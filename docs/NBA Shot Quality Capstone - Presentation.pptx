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card. This stays on screen during Cole's opening line. Final assembled video order: Cole (open) → Germain → Calder → Marc → Cole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Cole (opening): 'Here's how the next twenty minutes are laid out. I'll set up the project and our research questions, then Germain covers the data and pipeline, Calder walks through what the data shows, Marc presents the model and results, and I'll close on ethics and where we'd take this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Cole records here. This is the opening clip of the assembled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Cole: 'I'm Cole Campbell, project lead. Our capstone is built for the NBA — the organization at the center of our analysis. Here's the problem. Traditional stats like field goal percentage treat every made shot the same, but two players with the same percentage can be taking completely different shots — one wide open at the rim, the other contested from 25 feet. FG% credits both equally. We wanted to separate the two things it blends: shot selection — how hard the shots you take are — and shot-making skill — whether you actually beat that difficulty. The NBA has the data to do this: since 2013-14, optical cameras have tracked roughly two million shots, and that decade of data is what we built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Cole: 'That problem gave us three research questions. One — which players and teams consistently outperform their expected shot value, and what distinguishes them. Two — how shot success by court location has changed across the tracking era; this is the three-point revolution. And three — does a shot-quality-adjusted ranking of players actually differ from traditional metrics like FG% and eFG%. We carried all three through the full analysis; we didn't drop any.'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Cole: 'Our work sits at the intersection of three threads in the research. First, the analytics era itself — Dean Oliver's tempo-based thinking that pushed the league past per-game averages. Second, shot-quality and expected-possession-value models — the Cervone work out of MIT that scores a possession as it unfolds; that's the modeling tradition we build on. And third, the player-evaluation and ethics literature — Muller's tyranny of metrics, and Thomas and Uminsky on the danger of any single number. We borrow the modeling from the second thread and take the cautions from the third seriously. With that setup, I'll hand off to Germain on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Germain records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Germain: 'Thanks Cole. I'm Germain Meza, the data engineer. Everything you'll see rests on the data. We pulled from three sources, all keyed to NBA.com identifiers, so every join is ID-based, not name-based. The primary source is the NBA's official Stats API, through the open-source nba_api package — shot detail, game logs, players, and teams for every field goal from 2013-14 to today. We supplemented it with two Kaggle sets: a 2014-15 shot-logs set of about 128,000 shots that — and this part matters — includes the per-shot tracking features, and a 1947-to-present set for long-term player history. Everything lands in one enriched shot-level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Germain: 'The full enriched dataset is about 2.9 million shot records across 13 seasons. We stored everything as Parquet, which kept processing fast even at that size — so raw volume was never the real problem. The pipeline runs in four stages: pull from the sources, clean each table, enrich into one shot-level table where every row carries its own context plus the game, shooter, and team context, then hand that off model-ready. The trickiest part was the joins. The NBA API stores games at the team-game level — each game shows up twice, once per team — so joining on game alone would have silently doubled our shots. We joined on game, team, and season together, and ran row-count checks before and after every merge to be sure nothing duplicated or dropped.'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Germain: 'On data quality, we got lucky — the data was clean and well organized. The rows missing critical location fields were a tiny fraction, we dropped them with minimal impact, and we standardized all the dates. So we didn't burn the project fighting messy data. But there's one constraint that shaped everything: the contextual tracking features that make shot quality measurable — defender distance, touch time, dribbles, shot clock — are only publicly available for the 2014-15 season. Every other season gives us location and outcome, but not that per-shot detail. So we made a deliberate split: the detailed 2014-15 logs power the shot-quality model behind RQ1 and RQ3, and the full thirteen seasons power the location analysis in RQ2.'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Germain: 'A few engineering challenges worth naming. First, Windows' 260-character path limit broke our Parquet writes until we moved the repo to a short path, C-colon-backslash-nba. Second, a clash between a system Anaconda install and our virtual environment caused phantom module-not-found errors — we fixed it by standardizing on a dedicated .venv for everyone. And third, XGBoost wouldn't load on a teammate's Mac, so rather than fight local setups, we saved the model outputs as small CSVs in the repo and had the visualization code read those directly — so anyone can regenerate the charts without running the model. With the data in hand, Calder will take you into what it actually shows.'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Calder records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Calder: 'Thanks Germain. I'm Calder Wyllie — I led the exploratory analysis and visualization. Before any modeling, we wanted to understand the shooting landscape. We focused on the variables tied to whether a shot goes in — distance, court location and zone, shot type, and the made-or-missed flag — across all thirteen seasons. And the first big picture is that shot selection has changed dramatically. This chart is average shot distance by season: it climbs steadily through the late 2010s and then plateaus — the fingerprint of a league that moved outward and then settled into a new normal.'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Calder: 'Here's that shift by zone. Between 2013-14 and 2025-26, the mid-range collapsed — from about 27% of all attempts down to about 10%, a 17-percentage-point drop, the single biggest move in the data. Above-the-break threes went the other way, up about 11 points. This is the three-point revolution, and it shows up cleanly. That's the heart of research question two — where teams shoot has been completely rebuilt over the 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Calder: 'But here's the more interesting part. While where teams shoot changed enormously, how well they shoot from each zone barely moved. The efficiency ranking stayed stable the whole time — restricted area always the most efficient, corners reliable, above-the-break threes the lowest-percentage shot. In fact, even as three-point volume exploded, three-point percentage actually ticked down slightly, because more players were taking them from tougher spots. The one real gain was at the rim — restricted-area shooting rose about six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Calder: 'These shot-density maps make it tangible — moving across the era, the cluster of attempts migrates outward, the mid-range hollows out, and volume concentrates at the rim and behind the arc, while the efficiency surface underneath stays remarkably stable. So the takeaway for RQ2 is clear: the league's transformation was about shot selection, not a league-wide jump in shooting skill. Teams moved their shots toward the most efficient zones rather than getting better everywhere at once. That sets up the modeling — Marc, over to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Marc records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Marc: 'Thanks Calder. I'm Marc Rajesh, the modeling lead. Everything here rests on one model that predicts whether a single shot goes in, given its context. We trained it on 2014-15 — the one year with the per-shot tracking features Germain mentioned. We started with logistic regression as a baseline because it's interpretable: about 61% accuracy, and reassuringly its coefficients made basketball sense — distance hurts your chances most, defender space helps most. Then we moved to a gradient-boosted tree model, XGBoost, to capture interactions the linear model can't — the value of an extra foot of space depends on distance, which depends on the shot clock. The boosted model reached about 62% accuracy and a 0.644 AUC, comfortably above the 54.8% you'd get by always guessing miss. We deliberately kept the feature set simple and interpretable rather than chasing a marginally better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Marc: 'With that model, we scored every shot and computed residuals — actual makes minus expected makes. A consistently positive residual means a player beat the difficulty of the shots they took. That's research question one. In 2014-15, the top overperformers were a mix of elite shooters and creators: Chris Paul at plus-51 makes above expected, Kyle Korver converting about 9.5 points above expectation on nearly 500 shots, then Vučević and Curry. At the team level the Clippers led at plus-78, well ahead of the field.'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Marc: 'Knowing who overperforms is only half of it. To answer what distinguishes them, we clustered the overperformers with k-means on their shot-selection features — distance, defender distance, touch time, dribbles, three-point rate. Four clean archetypes fell out: on-ball creators like Paul and Curry; catch-and-shoot specialists like Korver and Thompson; interior finishers like Davis and Jordan; and mid-range scorers like Nowitzki and Bosh. The point is that overperformance isn't one type of player — the model rewards each role for doing its job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Marc: 'Research question three asks whether a shot-quality-adjusted ranking actually tells a different story than traditional metrics. We compared our adjusted metric against FG% and eFG% using Spearman rank correlation. Against raw FG% the correlation was just 0.39 — well below one — so yes, it's a meaningfully different ranking. And the players who move sort cleanly by type: the biggest risers are perimeter shooters who make contested shots — Pablo Prigioni climbs about 195 spots — and the biggest fallers are interior players who live on easy shots near the rim, like Omer Asik dropping 233. That's the metric working exactly as designed — credit for hard shots, little for easy ones. Cole will close us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Cole records here — the closing clip of the assembled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Cole: 'Thanks Marc. Closing on ethics and where this goes. The most important caveat: our metric measures one thing — shot-making. It says nothing about defense, rebounding, or playmaking. A center who ranks low isn't a bad player; the thing that makes him valuable just isn't what this measures. So the responsible use is as one input among many, always read in the context of a player's role, and honest about its limits — it's built on a single season and describes a moment in time, not a permanent verdict. Used as a complete judgment of a player, it would mislead.'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Cole: 'If we had six to twelve months instead of two, three things would change. First and most important, the data — we'd pursue multi-season tracking features so the model isn't tied to one year. Second, the modeling — we'd build toward the richer expected-possession-value approaches that score a possession as it unfolds. And third, we'd broaden the metric into a fuller picture of player value that includes the other things a player does. What we lacked wasn't the idea — it was the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Cole: 'To wrap up: shot context really is predictive of whether a shot goes in. The players who beat the model span distinct, recognizable roles. The league's decade of change was about shot selection, not shooting better everywhere. And a shot-quality view reorders players in a way traditional metrics miss. Thanks for watching — we're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card — stays up at the end of Cole's closing clip.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864"/>
        </a:solidFill>
      </p:bgPr>
    </p:bg>
    <p:spTree>
      <p:nvGrpSpPr>
        <p:cNvPr id="1" name=""/>
        <p:cNvGrpSpPr/>
        <p:nvPr/>
      </p:nvGrpSpPr>
      <p:grpSpPr>
        <a:xfrm>
          <a:off x="0" y="0"/>
          <a:ext cx="0" cy="0"/>
          <a:chOff x="0" y="0"/>
          <a:chExt cx="0" cy="0"/>
        </a:xfrm>
      </p:grpSpPr>
      <p:pic>
        <p:nvPicPr>
          <p:cNvPr id="2" name="Image 0" descr="nba_logo.png">    </p:cNvPr>
          <p:cNvPicPr>
            <a:picLocks noChangeAspect="1"/>
          </p:cNvPicPr>
          <p:nvPr/>
        </p:nvPicPr>
        <p:blipFill>
          <a:blip r:embed="rId1"/>
          <a:stretch>
            <a:fillRect/>
          </a:stretch>
        </p:blipFill>
        <p:spPr>
          <a:xfrm>
            <a:off x="5541264" y="502920"/>
            <a:ext cx="1097280" cy="1554480"/>
          </a:xfrm>
          <a:prstGeom prst="rect">
            <a:avLst/>
          </a:prstGeom>
        </p:spPr>
      </p:pic>
      <p:sp>
        <p:nvSpPr>
          <p:cNvPr id="3" name="Text 0"/>
          <p:cNvSpPr/>
          <p:nvPr/>
        </p:nvSpPr>
        <p:spPr>
          <a:xfrm>
            <a:off x="457200" y="2240280"/>
            <a:ext cx="11274552" cy="822960"/>
          </a:xfrm>
          <a:prstGeom prst="rect">
            <a:avLst/>
          </a:prstGeom>
          <a:noFill/>
          <a:ln/>
        </p:spPr>
        <p:txBody>
          <a:bodyPr wrap="square" lIns="0" tIns="0" rIns="0" bIns="0"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NBA Shot Quality Capstone</a:t>
            </a:r>
            <a:endParaRPr lang="en-US" sz="4400" dirty="0"/>
          </a:p>
        </p:txBody>
      </p:sp>
      <p:sp>
        <p:nvSpPr>
          <p:cNvPr id="4" name="Text 1"/>
          <p:cNvSpPr/>
          <p:nvPr/>
        </p:nvSpPr>
        <p:spPr>
          <a:xfrm>
            <a:off x="914400" y="3154680"/>
            <a:ext cx="10360152" cy="457200"/>
          </a:xfrm>
          <a:prstGeom prst="rect">
            <a:avLst/>
          </a:prstGeom>
          <a:noFill/>
          <a:ln/>
        </p:spPr>
        <p:txBody>
          <a:bodyPr wrap="square" lIns="0" tIns="0" rIns="0" bIns="0" rtlCol="0" anchor="ctr"/>
          <a:lstStyle/>
          <a:p>
            <a:pPr algn="ctr" indent="0" marL="0">
              <a:buNone/>
            </a:pPr>
            <a:r>
              <a:rPr lang="en-US" sz="1800" i="1" dirty="0">
                <a:solidFill>
                  <a:srgbClr val="CADCFC"/>
                </a:solidFill>
                <a:latin typeface="Calibri" pitchFamily="34" charset="0"/>
                <a:ea typeface="Calibri" pitchFamily="34" charset="-122"/>
                <a:cs typeface="Calibri" pitchFamily="34" charset="-120"/>
              </a:rPr>
              <a:t>Measuring shot quality to separate shot selection from shot-making skill</a:t>
            </a:r>
            <a:endParaRPr lang="en-US" sz="1800" dirty="0"/>
          </a:p>
        </p:txBody>
      </p:sp>
      <p:sp>
        <p:nvSpPr>
          <p:cNvPr id="5" name="Text 2"/>
          <p:cNvSpPr/>
          <p:nvPr/>
        </p:nvSpPr>
        <p:spPr>
          <a:xfrm>
            <a:off x="914400" y="3977640"/>
            <a:ext cx="10360152" cy="1645920"/>
          </a:xfrm>
          <a:prstGeom prst="rect">
            <a:avLst/>
          </a:prstGeom>
          <a:noFill/>
          <a:ln/>
        </p:spPr>
        <p:txBody>
          <a:bodyPr wrap="square" lIns="0" tIns="0" rIns="0" bIns="0" rtlCol="0" anchor="ctr"/>
          <a:lstStyle/>
          <a:p>
            <a:pPr algn="ctr" indent="0" marL="0">
              <a:lnSpc>
                <a:spcPct val="125000"/>
              </a:lnSpc>
              <a:buNone/>
            </a:pPr>
            <a:r>
              <a:rPr lang="en-US" sz="1500" b="1" dirty="0">
                <a:solidFill>
                  <a:srgbClr val="FFFFFF"/>
                </a:solidFill>
                <a:latin typeface="Calibri" pitchFamily="34" charset="0"/>
                <a:ea typeface="Calibri" pitchFamily="34" charset="-122"/>
                <a:cs typeface="Calibri" pitchFamily="34" charset="-120"/>
              </a:rPr>
              <a:t>Cole Campbell</a:t>
            </a:r>
            <a:pPr algn="ctr" indent="0" marL="0">
              <a:lnSpc>
                <a:spcPct val="125000"/>
              </a:lnSpc>
              <a:buNone/>
            </a:pPr>
            <a:r>
              <a:rPr lang="en-US" sz="1500" dirty="0">
                <a:solidFill>
                  <a:srgbClr val="CADCFC"/>
                </a:solidFill>
                <a:latin typeface="Calibri" pitchFamily="34" charset="0"/>
                <a:ea typeface="Calibri" pitchFamily="34" charset="-122"/>
                <a:cs typeface="Calibri" pitchFamily="34" charset="-120"/>
              </a:rPr>
              <a:t>  ·  Project Lead / Literature Review &amp; Ethics
</a:t>
            </a:r>
            <a:pPr algn="ctr" indent="0" marL="0">
              <a:lnSpc>
                <a:spcPct val="125000"/>
              </a:lnSpc>
              <a:buNone/>
            </a:pPr>
            <a:r>
              <a:rPr lang="en-US" sz="1500" b="1" dirty="0">
                <a:solidFill>
                  <a:srgbClr val="FFFFFF"/>
                </a:solidFill>
                <a:latin typeface="Calibri" pitchFamily="34" charset="0"/>
                <a:ea typeface="Calibri" pitchFamily="34" charset="-122"/>
                <a:cs typeface="Calibri" pitchFamily="34" charset="-120"/>
              </a:rPr>
              <a:t>Marc Rajesh</a:t>
            </a:r>
            <a:pPr algn="ctr" indent="0" marL="0">
              <a:lnSpc>
                <a:spcPct val="125000"/>
              </a:lnSpc>
              <a:buNone/>
            </a:pPr>
            <a:r>
              <a:rPr lang="en-US" sz="1500" dirty="0">
                <a:solidFill>
                  <a:srgbClr val="CADCFC"/>
                </a:solidFill>
                <a:latin typeface="Calibri" pitchFamily="34" charset="0"/>
                <a:ea typeface="Calibri" pitchFamily="34" charset="-122"/>
                <a:cs typeface="Calibri" pitchFamily="34" charset="-120"/>
              </a:rPr>
              <a:t>  ·  Modeling Lead
</a:t>
            </a:r>
            <a:pPr algn="ctr" indent="0" marL="0">
              <a:lnSpc>
                <a:spcPct val="125000"/>
              </a:lnSpc>
              <a:buNone/>
            </a:pPr>
            <a:r>
              <a:rPr lang="en-US" sz="1500" b="1" dirty="0">
                <a:solidFill>
                  <a:srgbClr val="FFFFFF"/>
                </a:solidFill>
                <a:latin typeface="Calibri" pitchFamily="34" charset="0"/>
                <a:ea typeface="Calibri" pitchFamily="34" charset="-122"/>
                <a:cs typeface="Calibri" pitchFamily="34" charset="-120"/>
              </a:rPr>
              <a:t>Calder Wyllie</a:t>
            </a:r>
            <a:pPr algn="ctr" indent="0" marL="0">
              <a:lnSpc>
                <a:spcPct val="125000"/>
              </a:lnSpc>
              <a:buNone/>
            </a:pPr>
            <a:r>
              <a:rPr lang="en-US" sz="1500" dirty="0">
                <a:solidFill>
                  <a:srgbClr val="CADCFC"/>
                </a:solidFill>
                <a:latin typeface="Calibri" pitchFamily="34" charset="0"/>
                <a:ea typeface="Calibri" pitchFamily="34" charset="-122"/>
                <a:cs typeface="Calibri" pitchFamily="34" charset="-120"/>
              </a:rPr>
              <a:t>  ·  EDA &amp; Visualization Lead
</a:t>
            </a:r>
            <a:pPr algn="ctr" indent="0" marL="0">
              <a:lnSpc>
                <a:spcPct val="125000"/>
              </a:lnSpc>
              <a:buNone/>
            </a:pPr>
            <a:r>
              <a:rPr lang="en-US" sz="1500" b="1" dirty="0">
                <a:solidFill>
                  <a:srgbClr val="FFFFFF"/>
                </a:solidFill>
                <a:latin typeface="Calibri" pitchFamily="34" charset="0"/>
                <a:ea typeface="Calibri" pitchFamily="34" charset="-122"/>
                <a:cs typeface="Calibri" pitchFamily="34" charset="-120"/>
              </a:rPr>
              <a:t>Germain Meza</a:t>
            </a:r>
            <a:pPr algn="ctr" indent="0" marL="0">
              <a:lnSpc>
                <a:spcPct val="125000"/>
              </a:lnSpc>
              <a:buNone/>
            </a:pPr>
            <a:r>
              <a:rPr lang="en-US" sz="1500" dirty="0">
                <a:solidFill>
                  <a:srgbClr val="CADCFC"/>
                </a:solidFill>
                <a:latin typeface="Calibri" pitchFamily="34" charset="0"/>
                <a:ea typeface="Calibri" pitchFamily="34" charset="-122"/>
                <a:cs typeface="Calibri" pitchFamily="34" charset="-120"/>
              </a:rPr>
              <a:t>  ·  Data Engineer</a:t>
            </a:r>
            <a:endParaRPr lang="en-US" sz="1500" dirty="0"/>
          </a:p>
        </p:txBody>
      </p:sp>
      <p:sp>
        <p:nvSpPr>
          <p:cNvPr id="6" name="Text 3"/>
          <p:cNvSpPr/>
          <p:nvPr/>
        </p:nvSpPr>
        <p:spPr>
          <a:xfrm>
            <a:off x="914400" y="6126480"/>
            <a:ext cx="10360152" cy="365760"/>
          </a:xfrm>
          <a:prstGeom prst="rect">
            <a:avLst/>
          </a:prstGeom>
          <a:noFill/>
          <a:ln/>
        </p:spPr>
        <p:txBody>
          <a:bodyPr wrap="square" lIns="0" tIns="0" rIns="0" bIns="0" rtlCol="0" anchor="ctr"/>
          <a:lstStyle/>
          <a:p>
            <a:pPr algn="ctr" indent="0" marL="0">
              <a:buNone/>
            </a:pPr>
            <a:r>
              <a:rPr lang="en-US" sz="1200" dirty="0">
                <a:solidFill>
                  <a:srgbClr val="6B7280"/>
                </a:solidFill>
                <a:latin typeface="Calibri" pitchFamily="34" charset="0"/>
                <a:ea typeface="Calibri" pitchFamily="34" charset="-122"/>
                <a:cs typeface="Calibri" pitchFamily="34" charset="-120"/>
              </a:rPr>
              <a:t>DAT 490 — Data Science Capstone  ·  Summer A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100" b="1" spc="200" kern="0" dirty="0">
                <a:solidFill>
                  <a:srgbClr val="2E75B6"/>
                </a:solidFill>
                <a:latin typeface="Calibri" pitchFamily="34" charset="0"/>
                <a:ea typeface="Calibri" pitchFamily="34" charset="-122"/>
                <a:cs typeface="Calibri" pitchFamily="34" charset="-120"/>
              </a:rPr>
              <a:t>PRESENTATION ROADMAP</a:t>
            </a:r>
            <a:endParaRPr lang="en-US" sz="1100" dirty="0"/>
          </a:p>
        </p:txBody>
      </p:sp>
      <p:sp>
        <p:nvSpPr>
          <p:cNvPr id="3" name="Text 1"/>
          <p:cNvSpPr/>
          <p:nvPr/>
        </p:nvSpPr>
        <p:spPr>
          <a:xfrm>
            <a:off x="548640" y="566928"/>
            <a:ext cx="11064240" cy="868680"/>
          </a:xfrm>
          <a:prstGeom prst="rect">
            <a:avLst/>
          </a:prstGeom>
          <a:noFill/>
          <a:ln/>
        </p:spPr>
        <p:txBody>
          <a:bodyPr wrap="square" lIns="0" tIns="0" rIns="0" bIns="0" rtlCol="0" anchor="t"/>
          <a:lstStyle/>
          <a:p>
            <a:pPr indent="0" marL="0">
              <a:buNone/>
            </a:pPr>
            <a:r>
              <a:rPr lang="en-US" sz="2900" b="1" dirty="0">
                <a:solidFill>
                  <a:srgbClr val="1F3864"/>
                </a:solidFill>
                <a:latin typeface="Georgia" pitchFamily="34" charset="0"/>
                <a:ea typeface="Georgia" pitchFamily="34" charset="-122"/>
                <a:cs typeface="Georgia" pitchFamily="34" charset="-120"/>
              </a:rPr>
              <a:t>What we'll cover — and who presents it</a:t>
            </a:r>
            <a:endParaRPr lang="en-US" sz="2900" dirty="0"/>
          </a:p>
        </p:txBody>
      </p:sp>
      <p:sp>
        <p:nvSpPr>
          <p:cNvPr id="4" name="Shape 2"/>
          <p:cNvSpPr/>
          <p:nvPr/>
        </p:nvSpPr>
        <p:spPr>
          <a:xfrm>
            <a:off x="548640" y="1691640"/>
            <a:ext cx="11091672" cy="841248"/>
          </a:xfrm>
          <a:prstGeom prst="rect">
            <a:avLst/>
          </a:prstGeom>
          <a:solidFill>
            <a:srgbClr val="F4F7FB"/>
          </a:solidFill>
          <a:ln w="12700">
            <a:solidFill>
              <a:srgbClr val="DCE6F2"/>
            </a:solidFill>
            <a:prstDash val="solid"/>
          </a:ln>
          <a:effectLst>
            <a:outerShdw sx="100000" sy="100000" kx="0" ky="0" algn="bl" rotWithShape="0" blurRad="76200" dist="25400" dir="8100000">
              <a:srgbClr val="000000">
                <a:alpha val="12000"/>
              </a:srgbClr>
            </a:outerShdw>
          </a:effectLst>
        </p:spPr>
      </p:sp>
      <p:sp>
        <p:nvSpPr>
          <p:cNvPr id="5" name="Shape 3"/>
          <p:cNvSpPr/>
          <p:nvPr/>
        </p:nvSpPr>
        <p:spPr>
          <a:xfrm>
            <a:off x="548640" y="1691640"/>
            <a:ext cx="822960" cy="841248"/>
          </a:xfrm>
          <a:prstGeom prst="rect">
            <a:avLst/>
          </a:prstGeom>
          <a:solidFill>
            <a:srgbClr val="1F3864"/>
          </a:solidFill>
          <a:ln/>
        </p:spPr>
      </p:sp>
      <p:sp>
        <p:nvSpPr>
          <p:cNvPr id="6" name="Text 4"/>
          <p:cNvSpPr/>
          <p:nvPr/>
        </p:nvSpPr>
        <p:spPr>
          <a:xfrm>
            <a:off x="548640" y="1691640"/>
            <a:ext cx="822960" cy="841248"/>
          </a:xfrm>
          <a:prstGeom prst="rect">
            <a:avLst/>
          </a:prstGeom>
          <a:noFill/>
          <a:ln/>
        </p:spPr>
        <p:txBody>
          <a:bodyPr wrap="square" lIns="0" tIns="0" rIns="0" bIns="0" rtlCol="0" anchor="ctr"/>
          <a:lstStyle/>
          <a:p>
            <a:pPr algn="ctr" indent="0" marL="0">
              <a:buNone/>
            </a:pPr>
            <a:r>
              <a:rPr lang="en-US" sz="2600" b="1" dirty="0">
                <a:solidFill>
                  <a:srgbClr val="FFFFFF"/>
                </a:solidFill>
                <a:latin typeface="Georgia" pitchFamily="34" charset="0"/>
                <a:ea typeface="Georgia" pitchFamily="34" charset="-122"/>
                <a:cs typeface="Georgia" pitchFamily="34" charset="-120"/>
              </a:rPr>
              <a:t>1</a:t>
            </a:r>
            <a:endParaRPr lang="en-US" sz="2600" dirty="0"/>
          </a:p>
        </p:txBody>
      </p:sp>
      <p:sp>
        <p:nvSpPr>
          <p:cNvPr id="7" name="Text 5"/>
          <p:cNvSpPr/>
          <p:nvPr/>
        </p:nvSpPr>
        <p:spPr>
          <a:xfrm>
            <a:off x="1600200" y="1691640"/>
            <a:ext cx="7040880" cy="841248"/>
          </a:xfrm>
          <a:prstGeom prst="rect">
            <a:avLst/>
          </a:prstGeom>
          <a:noFill/>
          <a:ln/>
        </p:spPr>
        <p:txBody>
          <a:bodyPr wrap="square" lIns="0" tIns="0" rIns="0" bIns="0" rtlCol="0" anchor="ctr"/>
          <a:lstStyle/>
          <a:p>
            <a:pPr indent="0" marL="0">
              <a:buNone/>
            </a:pPr>
            <a:r>
              <a:rPr lang="en-US" sz="1800" b="1" dirty="0">
                <a:solidFill>
                  <a:srgbClr val="1F3864"/>
                </a:solidFill>
                <a:latin typeface="Calibri" pitchFamily="34" charset="0"/>
                <a:ea typeface="Calibri" pitchFamily="34" charset="-122"/>
                <a:cs typeface="Calibri" pitchFamily="34" charset="-120"/>
              </a:rPr>
              <a:t>Project Overview &amp; Research Questions</a:t>
            </a:r>
            <a:endParaRPr lang="en-US" sz="1800" dirty="0"/>
          </a:p>
        </p:txBody>
      </p:sp>
      <p:sp>
        <p:nvSpPr>
          <p:cNvPr id="8" name="Text 6"/>
          <p:cNvSpPr/>
          <p:nvPr/>
        </p:nvSpPr>
        <p:spPr>
          <a:xfrm>
            <a:off x="8686800" y="1691640"/>
            <a:ext cx="2011680" cy="841248"/>
          </a:xfrm>
          <a:prstGeom prst="rect">
            <a:avLst/>
          </a:prstGeom>
          <a:noFill/>
          <a:ln/>
        </p:spPr>
        <p:txBody>
          <a:bodyPr wrap="square" lIns="0" tIns="0" rIns="0" bIns="0" rtlCol="0" anchor="ctr"/>
          <a:lstStyle/>
          <a:p>
            <a:pPr indent="0" marL="0">
              <a:buNone/>
            </a:pPr>
            <a:r>
              <a:rPr lang="en-US" sz="1300" dirty="0">
                <a:solidFill>
                  <a:srgbClr val="222222"/>
                </a:solidFill>
                <a:latin typeface="Calibri" pitchFamily="34" charset="0"/>
                <a:ea typeface="Calibri" pitchFamily="34" charset="-122"/>
                <a:cs typeface="Calibri" pitchFamily="34" charset="-120"/>
              </a:rPr>
              <a:t>Cole Campbell</a:t>
            </a:r>
            <a:endParaRPr lang="en-US" sz="1300" dirty="0"/>
          </a:p>
        </p:txBody>
      </p:sp>
      <p:sp>
        <p:nvSpPr>
          <p:cNvPr id="9" name="Text 7"/>
          <p:cNvSpPr/>
          <p:nvPr/>
        </p:nvSpPr>
        <p:spPr>
          <a:xfrm>
            <a:off x="10561320" y="1691640"/>
            <a:ext cx="1005840" cy="841248"/>
          </a:xfrm>
          <a:prstGeom prst="rect">
            <a:avLst/>
          </a:prstGeom>
          <a:noFill/>
          <a:ln/>
        </p:spPr>
        <p:txBody>
          <a:bodyPr wrap="square" lIns="0" tIns="0" rIns="0" bIns="0" rtlCol="0" anchor="ctr"/>
          <a:lstStyle/>
          <a:p>
            <a:pPr algn="r" indent="0" marL="0">
              <a:buNone/>
            </a:pPr>
            <a:r>
              <a:rPr lang="en-US" sz="1300" b="1" dirty="0">
                <a:solidFill>
                  <a:srgbClr val="C8102E"/>
                </a:solidFill>
                <a:latin typeface="Calibri" pitchFamily="34" charset="0"/>
                <a:ea typeface="Calibri" pitchFamily="34" charset="-122"/>
                <a:cs typeface="Calibri" pitchFamily="34" charset="-120"/>
              </a:rPr>
              <a:t>~3 min</a:t>
            </a:r>
            <a:endParaRPr lang="en-US" sz="1300" dirty="0"/>
          </a:p>
        </p:txBody>
      </p:sp>
      <p:sp>
        <p:nvSpPr>
          <p:cNvPr id="10" name="Shape 8"/>
          <p:cNvSpPr/>
          <p:nvPr/>
        </p:nvSpPr>
        <p:spPr>
          <a:xfrm>
            <a:off x="548640" y="2651760"/>
            <a:ext cx="11091672" cy="841248"/>
          </a:xfrm>
          <a:prstGeom prst="rect">
            <a:avLst/>
          </a:prstGeom>
          <a:solidFill>
            <a:srgbClr val="F4F7FB"/>
          </a:solidFill>
          <a:ln w="12700">
            <a:solidFill>
              <a:srgbClr val="DCE6F2"/>
            </a:solidFill>
            <a:prstDash val="solid"/>
          </a:ln>
          <a:effectLst>
            <a:outerShdw sx="100000" sy="100000" kx="0" ky="0" algn="bl" rotWithShape="0" blurRad="76200" dist="25400" dir="8100000">
              <a:srgbClr val="000000">
                <a:alpha val="12000"/>
              </a:srgbClr>
            </a:outerShdw>
          </a:effectLst>
        </p:spPr>
      </p:sp>
      <p:sp>
        <p:nvSpPr>
          <p:cNvPr id="11" name="Shape 9"/>
          <p:cNvSpPr/>
          <p:nvPr/>
        </p:nvSpPr>
        <p:spPr>
          <a:xfrm>
            <a:off x="548640" y="2651760"/>
            <a:ext cx="822960" cy="841248"/>
          </a:xfrm>
          <a:prstGeom prst="rect">
            <a:avLst/>
          </a:prstGeom>
          <a:solidFill>
            <a:srgbClr val="1F3864"/>
          </a:solidFill>
          <a:ln/>
        </p:spPr>
      </p:sp>
      <p:sp>
        <p:nvSpPr>
          <p:cNvPr id="12" name="Text 10"/>
          <p:cNvSpPr/>
          <p:nvPr/>
        </p:nvSpPr>
        <p:spPr>
          <a:xfrm>
            <a:off x="548640" y="2651760"/>
            <a:ext cx="822960" cy="841248"/>
          </a:xfrm>
          <a:prstGeom prst="rect">
            <a:avLst/>
          </a:prstGeom>
          <a:noFill/>
          <a:ln/>
        </p:spPr>
        <p:txBody>
          <a:bodyPr wrap="square" lIns="0" tIns="0" rIns="0" bIns="0" rtlCol="0" anchor="ctr"/>
          <a:lstStyle/>
          <a:p>
            <a:pPr algn="ctr" indent="0" marL="0">
              <a:buNone/>
            </a:pPr>
            <a:r>
              <a:rPr lang="en-US" sz="2600" b="1" dirty="0">
                <a:solidFill>
                  <a:srgbClr val="FFFFFF"/>
                </a:solidFill>
                <a:latin typeface="Georgia" pitchFamily="34" charset="0"/>
                <a:ea typeface="Georgia" pitchFamily="34" charset="-122"/>
                <a:cs typeface="Georgia" pitchFamily="34" charset="-120"/>
              </a:rPr>
              <a:t>2</a:t>
            </a:r>
            <a:endParaRPr lang="en-US" sz="2600" dirty="0"/>
          </a:p>
        </p:txBody>
      </p:sp>
      <p:sp>
        <p:nvSpPr>
          <p:cNvPr id="13" name="Text 11"/>
          <p:cNvSpPr/>
          <p:nvPr/>
        </p:nvSpPr>
        <p:spPr>
          <a:xfrm>
            <a:off x="1600200" y="2651760"/>
            <a:ext cx="7040880" cy="841248"/>
          </a:xfrm>
          <a:prstGeom prst="rect">
            <a:avLst/>
          </a:prstGeom>
          <a:noFill/>
          <a:ln/>
        </p:spPr>
        <p:txBody>
          <a:bodyPr wrap="square" lIns="0" tIns="0" rIns="0" bIns="0" rtlCol="0" anchor="ctr"/>
          <a:lstStyle/>
          <a:p>
            <a:pPr indent="0" marL="0">
              <a:buNone/>
            </a:pPr>
            <a:r>
              <a:rPr lang="en-US" sz="1800" b="1" dirty="0">
                <a:solidFill>
                  <a:srgbClr val="1F3864"/>
                </a:solidFill>
                <a:latin typeface="Calibri" pitchFamily="34" charset="0"/>
                <a:ea typeface="Calibri" pitchFamily="34" charset="-122"/>
                <a:cs typeface="Calibri" pitchFamily="34" charset="-120"/>
              </a:rPr>
              <a:t>Data &amp; Engineering</a:t>
            </a:r>
            <a:endParaRPr lang="en-US" sz="1800" dirty="0"/>
          </a:p>
        </p:txBody>
      </p:sp>
      <p:sp>
        <p:nvSpPr>
          <p:cNvPr id="14" name="Text 12"/>
          <p:cNvSpPr/>
          <p:nvPr/>
        </p:nvSpPr>
        <p:spPr>
          <a:xfrm>
            <a:off x="8686800" y="2651760"/>
            <a:ext cx="2011680" cy="841248"/>
          </a:xfrm>
          <a:prstGeom prst="rect">
            <a:avLst/>
          </a:prstGeom>
          <a:noFill/>
          <a:ln/>
        </p:spPr>
        <p:txBody>
          <a:bodyPr wrap="square" lIns="0" tIns="0" rIns="0" bIns="0" rtlCol="0" anchor="ctr"/>
          <a:lstStyle/>
          <a:p>
            <a:pPr indent="0" marL="0">
              <a:buNone/>
            </a:pPr>
            <a:r>
              <a:rPr lang="en-US" sz="1300" dirty="0">
                <a:solidFill>
                  <a:srgbClr val="222222"/>
                </a:solidFill>
                <a:latin typeface="Calibri" pitchFamily="34" charset="0"/>
                <a:ea typeface="Calibri" pitchFamily="34" charset="-122"/>
                <a:cs typeface="Calibri" pitchFamily="34" charset="-120"/>
              </a:rPr>
              <a:t>Germain Meza</a:t>
            </a:r>
            <a:endParaRPr lang="en-US" sz="1300" dirty="0"/>
          </a:p>
        </p:txBody>
      </p:sp>
      <p:sp>
        <p:nvSpPr>
          <p:cNvPr id="15" name="Text 13"/>
          <p:cNvSpPr/>
          <p:nvPr/>
        </p:nvSpPr>
        <p:spPr>
          <a:xfrm>
            <a:off x="10561320" y="2651760"/>
            <a:ext cx="1005840" cy="841248"/>
          </a:xfrm>
          <a:prstGeom prst="rect">
            <a:avLst/>
          </a:prstGeom>
          <a:noFill/>
          <a:ln/>
        </p:spPr>
        <p:txBody>
          <a:bodyPr wrap="square" lIns="0" tIns="0" rIns="0" bIns="0" rtlCol="0" anchor="ctr"/>
          <a:lstStyle/>
          <a:p>
            <a:pPr algn="r" indent="0" marL="0">
              <a:buNone/>
            </a:pPr>
            <a:r>
              <a:rPr lang="en-US" sz="1300" b="1" dirty="0">
                <a:solidFill>
                  <a:srgbClr val="C8102E"/>
                </a:solidFill>
                <a:latin typeface="Calibri" pitchFamily="34" charset="0"/>
                <a:ea typeface="Calibri" pitchFamily="34" charset="-122"/>
                <a:cs typeface="Calibri" pitchFamily="34" charset="-120"/>
              </a:rPr>
              <a:t>~5 min</a:t>
            </a:r>
            <a:endParaRPr lang="en-US" sz="1300" dirty="0"/>
          </a:p>
        </p:txBody>
      </p:sp>
      <p:sp>
        <p:nvSpPr>
          <p:cNvPr id="16" name="Shape 14"/>
          <p:cNvSpPr/>
          <p:nvPr/>
        </p:nvSpPr>
        <p:spPr>
          <a:xfrm>
            <a:off x="548640" y="3611880"/>
            <a:ext cx="11091672" cy="841248"/>
          </a:xfrm>
          <a:prstGeom prst="rect">
            <a:avLst/>
          </a:prstGeom>
          <a:solidFill>
            <a:srgbClr val="F4F7FB"/>
          </a:solidFill>
          <a:ln w="12700">
            <a:solidFill>
              <a:srgbClr val="DCE6F2"/>
            </a:solidFill>
            <a:prstDash val="solid"/>
          </a:ln>
          <a:effectLst>
            <a:outerShdw sx="100000" sy="100000" kx="0" ky="0" algn="bl" rotWithShape="0" blurRad="76200" dist="25400" dir="8100000">
              <a:srgbClr val="000000">
                <a:alpha val="12000"/>
              </a:srgbClr>
            </a:outerShdw>
          </a:effectLst>
        </p:spPr>
      </p:sp>
      <p:sp>
        <p:nvSpPr>
          <p:cNvPr id="17" name="Shape 15"/>
          <p:cNvSpPr/>
          <p:nvPr/>
        </p:nvSpPr>
        <p:spPr>
          <a:xfrm>
            <a:off x="548640" y="3611880"/>
            <a:ext cx="822960" cy="841248"/>
          </a:xfrm>
          <a:prstGeom prst="rect">
            <a:avLst/>
          </a:prstGeom>
          <a:solidFill>
            <a:srgbClr val="1F3864"/>
          </a:solidFill>
          <a:ln/>
        </p:spPr>
      </p:sp>
      <p:sp>
        <p:nvSpPr>
          <p:cNvPr id="18" name="Text 16"/>
          <p:cNvSpPr/>
          <p:nvPr/>
        </p:nvSpPr>
        <p:spPr>
          <a:xfrm>
            <a:off x="548640" y="3611880"/>
            <a:ext cx="822960" cy="841248"/>
          </a:xfrm>
          <a:prstGeom prst="rect">
            <a:avLst/>
          </a:prstGeom>
          <a:noFill/>
          <a:ln/>
        </p:spPr>
        <p:txBody>
          <a:bodyPr wrap="square" lIns="0" tIns="0" rIns="0" bIns="0" rtlCol="0" anchor="ctr"/>
          <a:lstStyle/>
          <a:p>
            <a:pPr algn="ctr" indent="0" marL="0">
              <a:buNone/>
            </a:pPr>
            <a:r>
              <a:rPr lang="en-US" sz="2600" b="1" dirty="0">
                <a:solidFill>
                  <a:srgbClr val="FFFFFF"/>
                </a:solidFill>
                <a:latin typeface="Georgia" pitchFamily="34" charset="0"/>
                <a:ea typeface="Georgia" pitchFamily="34" charset="-122"/>
                <a:cs typeface="Georgia" pitchFamily="34" charset="-120"/>
              </a:rPr>
              <a:t>3</a:t>
            </a:r>
            <a:endParaRPr lang="en-US" sz="2600" dirty="0"/>
          </a:p>
        </p:txBody>
      </p:sp>
      <p:sp>
        <p:nvSpPr>
          <p:cNvPr id="19" name="Text 17"/>
          <p:cNvSpPr/>
          <p:nvPr/>
        </p:nvSpPr>
        <p:spPr>
          <a:xfrm>
            <a:off x="1600200" y="3611880"/>
            <a:ext cx="7040880" cy="841248"/>
          </a:xfrm>
          <a:prstGeom prst="rect">
            <a:avLst/>
          </a:prstGeom>
          <a:noFill/>
          <a:ln/>
        </p:spPr>
        <p:txBody>
          <a:bodyPr wrap="square" lIns="0" tIns="0" rIns="0" bIns="0" rtlCol="0" anchor="ctr"/>
          <a:lstStyle/>
          <a:p>
            <a:pPr indent="0" marL="0">
              <a:buNone/>
            </a:pPr>
            <a:r>
              <a:rPr lang="en-US" sz="1800" b="1" dirty="0">
                <a:solidFill>
                  <a:srgbClr val="1F3864"/>
                </a:solidFill>
                <a:latin typeface="Calibri" pitchFamily="34" charset="0"/>
                <a:ea typeface="Calibri" pitchFamily="34" charset="-122"/>
                <a:cs typeface="Calibri" pitchFamily="34" charset="-120"/>
              </a:rPr>
              <a:t>Exploratory Analysis &amp; Visualization</a:t>
            </a:r>
            <a:endParaRPr lang="en-US" sz="1800" dirty="0"/>
          </a:p>
        </p:txBody>
      </p:sp>
      <p:sp>
        <p:nvSpPr>
          <p:cNvPr id="20" name="Text 18"/>
          <p:cNvSpPr/>
          <p:nvPr/>
        </p:nvSpPr>
        <p:spPr>
          <a:xfrm>
            <a:off x="8686800" y="3611880"/>
            <a:ext cx="2011680" cy="841248"/>
          </a:xfrm>
          <a:prstGeom prst="rect">
            <a:avLst/>
          </a:prstGeom>
          <a:noFill/>
          <a:ln/>
        </p:spPr>
        <p:txBody>
          <a:bodyPr wrap="square" lIns="0" tIns="0" rIns="0" bIns="0" rtlCol="0" anchor="ctr"/>
          <a:lstStyle/>
          <a:p>
            <a:pPr indent="0" marL="0">
              <a:buNone/>
            </a:pPr>
            <a:r>
              <a:rPr lang="en-US" sz="1300" dirty="0">
                <a:solidFill>
                  <a:srgbClr val="222222"/>
                </a:solidFill>
                <a:latin typeface="Calibri" pitchFamily="34" charset="0"/>
                <a:ea typeface="Calibri" pitchFamily="34" charset="-122"/>
                <a:cs typeface="Calibri" pitchFamily="34" charset="-120"/>
              </a:rPr>
              <a:t>Calder Wyllie</a:t>
            </a:r>
            <a:endParaRPr lang="en-US" sz="1300" dirty="0"/>
          </a:p>
        </p:txBody>
      </p:sp>
      <p:sp>
        <p:nvSpPr>
          <p:cNvPr id="21" name="Text 19"/>
          <p:cNvSpPr/>
          <p:nvPr/>
        </p:nvSpPr>
        <p:spPr>
          <a:xfrm>
            <a:off x="10561320" y="3611880"/>
            <a:ext cx="1005840" cy="841248"/>
          </a:xfrm>
          <a:prstGeom prst="rect">
            <a:avLst/>
          </a:prstGeom>
          <a:noFill/>
          <a:ln/>
        </p:spPr>
        <p:txBody>
          <a:bodyPr wrap="square" lIns="0" tIns="0" rIns="0" bIns="0" rtlCol="0" anchor="ctr"/>
          <a:lstStyle/>
          <a:p>
            <a:pPr algn="r" indent="0" marL="0">
              <a:buNone/>
            </a:pPr>
            <a:r>
              <a:rPr lang="en-US" sz="1300" b="1" dirty="0">
                <a:solidFill>
                  <a:srgbClr val="C8102E"/>
                </a:solidFill>
                <a:latin typeface="Calibri" pitchFamily="34" charset="0"/>
                <a:ea typeface="Calibri" pitchFamily="34" charset="-122"/>
                <a:cs typeface="Calibri" pitchFamily="34" charset="-120"/>
              </a:rPr>
              <a:t>~5 min</a:t>
            </a:r>
            <a:endParaRPr lang="en-US" sz="1300" dirty="0"/>
          </a:p>
        </p:txBody>
      </p:sp>
      <p:sp>
        <p:nvSpPr>
          <p:cNvPr id="22" name="Shape 20"/>
          <p:cNvSpPr/>
          <p:nvPr/>
        </p:nvSpPr>
        <p:spPr>
          <a:xfrm>
            <a:off x="548640" y="4572000"/>
            <a:ext cx="11091672" cy="841248"/>
          </a:xfrm>
          <a:prstGeom prst="rect">
            <a:avLst/>
          </a:prstGeom>
          <a:solidFill>
            <a:srgbClr val="F4F7FB"/>
          </a:solidFill>
          <a:ln w="12700">
            <a:solidFill>
              <a:srgbClr val="DCE6F2"/>
            </a:solidFill>
            <a:prstDash val="solid"/>
          </a:ln>
          <a:effectLst>
            <a:outerShdw sx="100000" sy="100000" kx="0" ky="0" algn="bl" rotWithShape="0" blurRad="76200" dist="25400" dir="8100000">
              <a:srgbClr val="000000">
                <a:alpha val="12000"/>
              </a:srgbClr>
            </a:outerShdw>
          </a:effectLst>
        </p:spPr>
      </p:sp>
      <p:sp>
        <p:nvSpPr>
          <p:cNvPr id="23" name="Shape 21"/>
          <p:cNvSpPr/>
          <p:nvPr/>
        </p:nvSpPr>
        <p:spPr>
          <a:xfrm>
            <a:off x="548640" y="4572000"/>
            <a:ext cx="822960" cy="841248"/>
          </a:xfrm>
          <a:prstGeom prst="rect">
            <a:avLst/>
          </a:prstGeom>
          <a:solidFill>
            <a:srgbClr val="1F3864"/>
          </a:solidFill>
          <a:ln/>
        </p:spPr>
      </p:sp>
      <p:sp>
        <p:nvSpPr>
          <p:cNvPr id="24" name="Text 22"/>
          <p:cNvSpPr/>
          <p:nvPr/>
        </p:nvSpPr>
        <p:spPr>
          <a:xfrm>
            <a:off x="548640" y="4572000"/>
            <a:ext cx="822960" cy="841248"/>
          </a:xfrm>
          <a:prstGeom prst="rect">
            <a:avLst/>
          </a:prstGeom>
          <a:noFill/>
          <a:ln/>
        </p:spPr>
        <p:txBody>
          <a:bodyPr wrap="square" lIns="0" tIns="0" rIns="0" bIns="0" rtlCol="0" anchor="ctr"/>
          <a:lstStyle/>
          <a:p>
            <a:pPr algn="ctr" indent="0" marL="0">
              <a:buNone/>
            </a:pPr>
            <a:r>
              <a:rPr lang="en-US" sz="2600" b="1" dirty="0">
                <a:solidFill>
                  <a:srgbClr val="FFFFFF"/>
                </a:solidFill>
                <a:latin typeface="Georgia" pitchFamily="34" charset="0"/>
                <a:ea typeface="Georgia" pitchFamily="34" charset="-122"/>
                <a:cs typeface="Georgia" pitchFamily="34" charset="-120"/>
              </a:rPr>
              <a:t>4</a:t>
            </a:r>
            <a:endParaRPr lang="en-US" sz="2600" dirty="0"/>
          </a:p>
        </p:txBody>
      </p:sp>
      <p:sp>
        <p:nvSpPr>
          <p:cNvPr id="25" name="Text 23"/>
          <p:cNvSpPr/>
          <p:nvPr/>
        </p:nvSpPr>
        <p:spPr>
          <a:xfrm>
            <a:off x="1600200" y="4572000"/>
            <a:ext cx="7040880" cy="841248"/>
          </a:xfrm>
          <a:prstGeom prst="rect">
            <a:avLst/>
          </a:prstGeom>
          <a:noFill/>
          <a:ln/>
        </p:spPr>
        <p:txBody>
          <a:bodyPr wrap="square" lIns="0" tIns="0" rIns="0" bIns="0" rtlCol="0" anchor="ctr"/>
          <a:lstStyle/>
          <a:p>
            <a:pPr indent="0" marL="0">
              <a:buNone/>
            </a:pPr>
            <a:r>
              <a:rPr lang="en-US" sz="1800" b="1" dirty="0">
                <a:solidFill>
                  <a:srgbClr val="1F3864"/>
                </a:solidFill>
                <a:latin typeface="Calibri" pitchFamily="34" charset="0"/>
                <a:ea typeface="Calibri" pitchFamily="34" charset="-122"/>
                <a:cs typeface="Calibri" pitchFamily="34" charset="-120"/>
              </a:rPr>
              <a:t>Methodology, Modeling &amp; Results</a:t>
            </a:r>
            <a:endParaRPr lang="en-US" sz="1800" dirty="0"/>
          </a:p>
        </p:txBody>
      </p:sp>
      <p:sp>
        <p:nvSpPr>
          <p:cNvPr id="26" name="Text 24"/>
          <p:cNvSpPr/>
          <p:nvPr/>
        </p:nvSpPr>
        <p:spPr>
          <a:xfrm>
            <a:off x="8686800" y="4572000"/>
            <a:ext cx="2011680" cy="841248"/>
          </a:xfrm>
          <a:prstGeom prst="rect">
            <a:avLst/>
          </a:prstGeom>
          <a:noFill/>
          <a:ln/>
        </p:spPr>
        <p:txBody>
          <a:bodyPr wrap="square" lIns="0" tIns="0" rIns="0" bIns="0" rtlCol="0" anchor="ctr"/>
          <a:lstStyle/>
          <a:p>
            <a:pPr indent="0" marL="0">
              <a:buNone/>
            </a:pPr>
            <a:r>
              <a:rPr lang="en-US" sz="1300" dirty="0">
                <a:solidFill>
                  <a:srgbClr val="222222"/>
                </a:solidFill>
                <a:latin typeface="Calibri" pitchFamily="34" charset="0"/>
                <a:ea typeface="Calibri" pitchFamily="34" charset="-122"/>
                <a:cs typeface="Calibri" pitchFamily="34" charset="-120"/>
              </a:rPr>
              <a:t>Marc Rajesh</a:t>
            </a:r>
            <a:endParaRPr lang="en-US" sz="1300" dirty="0"/>
          </a:p>
        </p:txBody>
      </p:sp>
      <p:sp>
        <p:nvSpPr>
          <p:cNvPr id="27" name="Text 25"/>
          <p:cNvSpPr/>
          <p:nvPr/>
        </p:nvSpPr>
        <p:spPr>
          <a:xfrm>
            <a:off x="10561320" y="4572000"/>
            <a:ext cx="1005840" cy="841248"/>
          </a:xfrm>
          <a:prstGeom prst="rect">
            <a:avLst/>
          </a:prstGeom>
          <a:noFill/>
          <a:ln/>
        </p:spPr>
        <p:txBody>
          <a:bodyPr wrap="square" lIns="0" tIns="0" rIns="0" bIns="0" rtlCol="0" anchor="ctr"/>
          <a:lstStyle/>
          <a:p>
            <a:pPr algn="r" indent="0" marL="0">
              <a:buNone/>
            </a:pPr>
            <a:r>
              <a:rPr lang="en-US" sz="1300" b="1" dirty="0">
                <a:solidFill>
                  <a:srgbClr val="C8102E"/>
                </a:solidFill>
                <a:latin typeface="Calibri" pitchFamily="34" charset="0"/>
                <a:ea typeface="Calibri" pitchFamily="34" charset="-122"/>
                <a:cs typeface="Calibri" pitchFamily="34" charset="-120"/>
              </a:rPr>
              <a:t>~5 min</a:t>
            </a:r>
            <a:endParaRPr lang="en-US" sz="1300" dirty="0"/>
          </a:p>
        </p:txBody>
      </p:sp>
      <p:sp>
        <p:nvSpPr>
          <p:cNvPr id="28" name="Shape 26"/>
          <p:cNvSpPr/>
          <p:nvPr/>
        </p:nvSpPr>
        <p:spPr>
          <a:xfrm>
            <a:off x="548640" y="5532120"/>
            <a:ext cx="11091672" cy="841248"/>
          </a:xfrm>
          <a:prstGeom prst="rect">
            <a:avLst/>
          </a:prstGeom>
          <a:solidFill>
            <a:srgbClr val="F4F7FB"/>
          </a:solidFill>
          <a:ln w="12700">
            <a:solidFill>
              <a:srgbClr val="DCE6F2"/>
            </a:solidFill>
            <a:prstDash val="solid"/>
          </a:ln>
          <a:effectLst>
            <a:outerShdw sx="100000" sy="100000" kx="0" ky="0" algn="bl" rotWithShape="0" blurRad="76200" dist="25400" dir="8100000">
              <a:srgbClr val="000000">
                <a:alpha val="12000"/>
              </a:srgbClr>
            </a:outerShdw>
          </a:effectLst>
        </p:spPr>
      </p:sp>
      <p:sp>
        <p:nvSpPr>
          <p:cNvPr id="29" name="Shape 27"/>
          <p:cNvSpPr/>
          <p:nvPr/>
        </p:nvSpPr>
        <p:spPr>
          <a:xfrm>
            <a:off x="548640" y="5532120"/>
            <a:ext cx="822960" cy="841248"/>
          </a:xfrm>
          <a:prstGeom prst="rect">
            <a:avLst/>
          </a:prstGeom>
          <a:solidFill>
            <a:srgbClr val="1F3864"/>
          </a:solidFill>
          <a:ln/>
        </p:spPr>
      </p:sp>
      <p:sp>
        <p:nvSpPr>
          <p:cNvPr id="30" name="Text 28"/>
          <p:cNvSpPr/>
          <p:nvPr/>
        </p:nvSpPr>
        <p:spPr>
          <a:xfrm>
            <a:off x="548640" y="5532120"/>
            <a:ext cx="822960" cy="841248"/>
          </a:xfrm>
          <a:prstGeom prst="rect">
            <a:avLst/>
          </a:prstGeom>
          <a:noFill/>
          <a:ln/>
        </p:spPr>
        <p:txBody>
          <a:bodyPr wrap="square" lIns="0" tIns="0" rIns="0" bIns="0" rtlCol="0" anchor="ctr"/>
          <a:lstStyle/>
          <a:p>
            <a:pPr algn="ctr" indent="0" marL="0">
              <a:buNone/>
            </a:pPr>
            <a:r>
              <a:rPr lang="en-US" sz="2600" b="1" dirty="0">
                <a:solidFill>
                  <a:srgbClr val="FFFFFF"/>
                </a:solidFill>
                <a:latin typeface="Georgia" pitchFamily="34" charset="0"/>
                <a:ea typeface="Georgia" pitchFamily="34" charset="-122"/>
                <a:cs typeface="Georgia" pitchFamily="34" charset="-120"/>
              </a:rPr>
              <a:t>5</a:t>
            </a:r>
            <a:endParaRPr lang="en-US" sz="2600" dirty="0"/>
          </a:p>
        </p:txBody>
      </p:sp>
      <p:sp>
        <p:nvSpPr>
          <p:cNvPr id="31" name="Text 29"/>
          <p:cNvSpPr/>
          <p:nvPr/>
        </p:nvSpPr>
        <p:spPr>
          <a:xfrm>
            <a:off x="1600200" y="5532120"/>
            <a:ext cx="7040880" cy="841248"/>
          </a:xfrm>
          <a:prstGeom prst="rect">
            <a:avLst/>
          </a:prstGeom>
          <a:noFill/>
          <a:ln/>
        </p:spPr>
        <p:txBody>
          <a:bodyPr wrap="square" lIns="0" tIns="0" rIns="0" bIns="0" rtlCol="0" anchor="ctr"/>
          <a:lstStyle/>
          <a:p>
            <a:pPr indent="0" marL="0">
              <a:buNone/>
            </a:pPr>
            <a:r>
              <a:rPr lang="en-US" sz="1800" b="1" dirty="0">
                <a:solidFill>
                  <a:srgbClr val="1F3864"/>
                </a:solidFill>
                <a:latin typeface="Calibri" pitchFamily="34" charset="0"/>
                <a:ea typeface="Calibri" pitchFamily="34" charset="-122"/>
                <a:cs typeface="Calibri" pitchFamily="34" charset="-120"/>
              </a:rPr>
              <a:t>Ethics, Recommendations &amp; Conclusion</a:t>
            </a:r>
            <a:endParaRPr lang="en-US" sz="1800" dirty="0"/>
          </a:p>
        </p:txBody>
      </p:sp>
      <p:sp>
        <p:nvSpPr>
          <p:cNvPr id="32" name="Text 30"/>
          <p:cNvSpPr/>
          <p:nvPr/>
        </p:nvSpPr>
        <p:spPr>
          <a:xfrm>
            <a:off x="8686800" y="5532120"/>
            <a:ext cx="2011680" cy="841248"/>
          </a:xfrm>
          <a:prstGeom prst="rect">
            <a:avLst/>
          </a:prstGeom>
          <a:noFill/>
          <a:ln/>
        </p:spPr>
        <p:txBody>
          <a:bodyPr wrap="square" lIns="0" tIns="0" rIns="0" bIns="0" rtlCol="0" anchor="ctr"/>
          <a:lstStyle/>
          <a:p>
            <a:pPr indent="0" marL="0">
              <a:buNone/>
            </a:pPr>
            <a:r>
              <a:rPr lang="en-US" sz="1300" dirty="0">
                <a:solidFill>
                  <a:srgbClr val="222222"/>
                </a:solidFill>
                <a:latin typeface="Calibri" pitchFamily="34" charset="0"/>
                <a:ea typeface="Calibri" pitchFamily="34" charset="-122"/>
                <a:cs typeface="Calibri" pitchFamily="34" charset="-120"/>
              </a:rPr>
              <a:t>Cole Campbell</a:t>
            </a:r>
            <a:endParaRPr lang="en-US" sz="1300" dirty="0"/>
          </a:p>
        </p:txBody>
      </p:sp>
      <p:sp>
        <p:nvSpPr>
          <p:cNvPr id="33" name="Text 31"/>
          <p:cNvSpPr/>
          <p:nvPr/>
        </p:nvSpPr>
        <p:spPr>
          <a:xfrm>
            <a:off x="10561320" y="5532120"/>
            <a:ext cx="1005840" cy="841248"/>
          </a:xfrm>
          <a:prstGeom prst="rect">
            <a:avLst/>
          </a:prstGeom>
          <a:noFill/>
          <a:ln/>
        </p:spPr>
        <p:txBody>
          <a:bodyPr wrap="square" lIns="0" tIns="0" rIns="0" bIns="0" rtlCol="0" anchor="ctr"/>
          <a:lstStyle/>
          <a:p>
            <a:pPr algn="r" indent="0" marL="0">
              <a:buNone/>
            </a:pPr>
            <a:r>
              <a:rPr lang="en-US" sz="1300" b="1" dirty="0">
                <a:solidFill>
                  <a:srgbClr val="C8102E"/>
                </a:solidFill>
                <a:latin typeface="Calibri" pitchFamily="34" charset="0"/>
                <a:ea typeface="Calibri" pitchFamily="34" charset="-122"/>
                <a:cs typeface="Calibri" pitchFamily="34" charset="-120"/>
              </a:rPr>
              <a:t>~2 min</a:t>
            </a:r>
            <a:endParaRPr lang="en-US" sz="1300" dirty="0"/>
          </a:p>
        </p:txBody>
      </p:sp>
      <p:sp>
        <p:nvSpPr>
          <p:cNvPr id="34" name="Text 32"/>
          <p:cNvSpPr/>
          <p:nvPr/>
        </p:nvSpPr>
        <p:spPr>
          <a:xfrm>
            <a:off x="548640" y="6510528"/>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NBA Shot Quality Capstone — DAT 490 (Summer A 2026)</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7315200" y="182880"/>
            <a:ext cx="4663440" cy="6492240"/>
          </a:xfrm>
          <a:prstGeom prst="rect">
            <a:avLst/>
          </a:prstGeom>
          <a:noFill/>
          <a:ln/>
        </p:spPr>
        <p:txBody>
          <a:bodyPr wrap="square" lIns="0" tIns="0" rIns="0" bIns="0" rtlCol="0" anchor="ctr"/>
          <a:lstStyle/>
          <a:p>
            <a:pPr algn="r" indent="0" marL="0">
              <a:buNone/>
            </a:pPr>
            <a:r>
              <a:rPr lang="en-US" sz="30000" b="1" dirty="0">
                <a:solidFill>
                  <a:srgbClr val="2A4A78"/>
                </a:solidFill>
                <a:latin typeface="Georgia" pitchFamily="34" charset="0"/>
                <a:ea typeface="Georgia" pitchFamily="34" charset="-122"/>
                <a:cs typeface="Georgia" pitchFamily="34" charset="-120"/>
              </a:rPr>
              <a:t>1</a:t>
            </a:r>
            <a:endParaRPr lang="en-US" sz="30000" dirty="0"/>
          </a:p>
        </p:txBody>
      </p:sp>
      <p:sp>
        <p:nvSpPr>
          <p:cNvPr id="3" name="Text 1"/>
          <p:cNvSpPr/>
          <p:nvPr/>
        </p:nvSpPr>
        <p:spPr>
          <a:xfrm>
            <a:off x="777240" y="1828800"/>
            <a:ext cx="7315200" cy="365760"/>
          </a:xfrm>
          <a:prstGeom prst="rect">
            <a:avLst/>
          </a:prstGeom>
          <a:noFill/>
          <a:ln/>
        </p:spPr>
        <p:txBody>
          <a:bodyPr wrap="square" lIns="0" tIns="0" rIns="0" bIns="0" rtlCol="0" anchor="ctr"/>
          <a:lstStyle/>
          <a:p>
            <a:pPr indent="0" marL="0">
              <a:buNone/>
            </a:pPr>
            <a:r>
              <a:rPr lang="en-US" sz="1500" b="1" spc="300" kern="0" dirty="0">
                <a:solidFill>
                  <a:srgbClr val="E23B54"/>
                </a:solidFill>
                <a:latin typeface="Calibri" pitchFamily="34" charset="0"/>
                <a:ea typeface="Calibri" pitchFamily="34" charset="-122"/>
                <a:cs typeface="Calibri" pitchFamily="34" charset="-120"/>
              </a:rPr>
              <a:t>SEGMENT 1</a:t>
            </a:r>
            <a:endParaRPr lang="en-US" sz="1500" dirty="0"/>
          </a:p>
        </p:txBody>
      </p:sp>
      <p:sp>
        <p:nvSpPr>
          <p:cNvPr id="4" name="Text 2"/>
          <p:cNvSpPr/>
          <p:nvPr/>
        </p:nvSpPr>
        <p:spPr>
          <a:xfrm>
            <a:off x="777240" y="2240280"/>
            <a:ext cx="7498080" cy="1554480"/>
          </a:xfrm>
          <a:prstGeom prst="rect">
            <a:avLst/>
          </a:prstGeom>
          <a:noFill/>
          <a:ln/>
        </p:spPr>
        <p:txBody>
          <a:bodyPr wrap="square" lIns="0" tIns="0" rIns="0" bIns="0" rtlCol="0" anchor="t"/>
          <a:lstStyle/>
          <a:p>
            <a:pPr indent="0" marL="0">
              <a:buNone/>
            </a:pPr>
            <a:r>
              <a:rPr lang="en-US" sz="4000" b="1" dirty="0">
                <a:solidFill>
                  <a:srgbClr val="FFFFFF"/>
                </a:solidFill>
                <a:latin typeface="Georgia" pitchFamily="34" charset="0"/>
                <a:ea typeface="Georgia" pitchFamily="34" charset="-122"/>
                <a:cs typeface="Georgia" pitchFamily="34" charset="-120"/>
              </a:rPr>
              <a:t>Project Overview &amp; Research Questions</a:t>
            </a:r>
            <a:endParaRPr lang="en-US" sz="4000" dirty="0"/>
          </a:p>
        </p:txBody>
      </p:sp>
      <p:sp>
        <p:nvSpPr>
          <p:cNvPr id="5" name="Text 3"/>
          <p:cNvSpPr/>
          <p:nvPr/>
        </p:nvSpPr>
        <p:spPr>
          <a:xfrm>
            <a:off x="822960" y="4160520"/>
            <a:ext cx="6400800" cy="82296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Cole Campbell</a:t>
            </a:r>
            <a:endParaRPr lang="en-US" sz="1900" dirty="0"/>
          </a:p>
          <a:p>
            <a:pPr indent="0" marL="0">
              <a:buNone/>
            </a:pPr>
            <a:r>
              <a:rPr lang="en-US" sz="1600" dirty="0">
                <a:solidFill>
                  <a:srgbClr val="CADCFC"/>
                </a:solidFill>
                <a:latin typeface="Calibri" pitchFamily="34" charset="0"/>
                <a:ea typeface="Calibri" pitchFamily="34" charset="-122"/>
                <a:cs typeface="Calibri" pitchFamily="34" charset="-120"/>
              </a:rPr>
              <a:t>Project Lead / Literature Review &amp; Ethics</a:t>
            </a:r>
            <a:endParaRPr lang="en-US" sz="1900" dirty="0"/>
          </a:p>
        </p:txBody>
      </p:sp>
      <p:sp>
        <p:nvSpPr>
          <p:cNvPr id="6" name="Shape 4"/>
          <p:cNvSpPr/>
          <p:nvPr/>
        </p:nvSpPr>
        <p:spPr>
          <a:xfrm>
            <a:off x="822960" y="5074920"/>
            <a:ext cx="1737360" cy="502920"/>
          </a:xfrm>
          <a:prstGeom prst="roundRect">
            <a:avLst>
              <a:gd name="adj" fmla="val 14545"/>
            </a:avLst>
          </a:prstGeom>
          <a:solidFill>
            <a:srgbClr val="C8102E"/>
          </a:solidFill>
          <a:ln/>
        </p:spPr>
      </p:sp>
      <p:sp>
        <p:nvSpPr>
          <p:cNvPr id="7" name="Text 5"/>
          <p:cNvSpPr/>
          <p:nvPr/>
        </p:nvSpPr>
        <p:spPr>
          <a:xfrm>
            <a:off x="822960" y="5074920"/>
            <a:ext cx="173736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  ~3 min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100" b="1" spc="200" kern="0" dirty="0">
                <a:solidFill>
                  <a:srgbClr val="2E75B6"/>
                </a:solidFill>
                <a:latin typeface="Calibri" pitchFamily="34" charset="0"/>
                <a:ea typeface="Calibri" pitchFamily="34" charset="-122"/>
                <a:cs typeface="Calibri" pitchFamily="34" charset="-120"/>
              </a:rPr>
              <a:t>THE PROBLEM  ·  COLE</a:t>
            </a:r>
            <a:endParaRPr lang="en-US" sz="1100" dirty="0"/>
          </a:p>
        </p:txBody>
      </p:sp>
      <p:sp>
        <p:nvSpPr>
          <p:cNvPr id="3" name="Text 1"/>
          <p:cNvSpPr/>
          <p:nvPr/>
        </p:nvSpPr>
        <p:spPr>
          <a:xfrm>
            <a:off x="548640" y="566928"/>
            <a:ext cx="11064240" cy="868680"/>
          </a:xfrm>
          <a:prstGeom prst="rect">
            <a:avLst/>
          </a:prstGeom>
          <a:noFill/>
          <a:ln/>
        </p:spPr>
        <p:txBody>
          <a:bodyPr wrap="square" lIns="0" tIns="0" rIns="0" bIns="0" rtlCol="0" anchor="t"/>
          <a:lstStyle/>
          <a:p>
            <a:pPr indent="0" marL="0">
              <a:buNone/>
            </a:pPr>
            <a:r>
              <a:rPr lang="en-US" sz="2900" b="1" dirty="0">
                <a:solidFill>
                  <a:srgbClr val="1F3864"/>
                </a:solidFill>
                <a:latin typeface="Georgia" pitchFamily="34" charset="0"/>
                <a:ea typeface="Georgia" pitchFamily="34" charset="-122"/>
                <a:cs typeface="Georgia" pitchFamily="34" charset="-120"/>
              </a:rPr>
              <a:t>Two players, same FG% — very different shots</a:t>
            </a:r>
            <a:endParaRPr lang="en-US" sz="2900" dirty="0"/>
          </a:p>
        </p:txBody>
      </p:sp>
      <p:sp>
        <p:nvSpPr>
          <p:cNvPr id="4" name="Text 2"/>
          <p:cNvSpPr/>
          <p:nvPr/>
        </p:nvSpPr>
        <p:spPr>
          <a:xfrm>
            <a:off x="548640" y="1600200"/>
            <a:ext cx="6400800" cy="4572000"/>
          </a:xfrm>
          <a:prstGeom prst="rect">
            <a:avLst/>
          </a:prstGeom>
          <a:noFill/>
          <a:ln/>
        </p:spPr>
        <p:txBody>
          <a:bodyPr wrap="square" lIns="0" tIns="0" rIns="0" bIns="0" rtlCol="0" anchor="t"/>
          <a:lstStyle/>
          <a:p>
            <a:pPr marL="177800" indent="-177800">
              <a:spcAft>
                <a:spcPts val="1000"/>
              </a:spcAft>
              <a:buSzPct val="100000"/>
              <a:buChar char="•"/>
            </a:pPr>
            <a:r>
              <a:rPr lang="en-US" sz="1500" dirty="0">
                <a:solidFill>
                  <a:srgbClr val="222222"/>
                </a:solidFill>
                <a:latin typeface="Calibri" pitchFamily="34" charset="0"/>
                <a:ea typeface="Calibri" pitchFamily="34" charset="-122"/>
                <a:cs typeface="Calibri" pitchFamily="34" charset="-120"/>
              </a:rPr>
              <a:t>Our analysis is built for the National Basketball Association — the organization at the center of the work.</a:t>
            </a:r>
            <a:endParaRPr lang="en-US" sz="1500" dirty="0"/>
          </a:p>
          <a:p>
            <a:pPr marL="177800" indent="-1778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Traditional stats like field goal percentage treat every made shot the same.</a:t>
            </a:r>
            <a:endParaRPr lang="en-US" sz="1500" dirty="0"/>
          </a:p>
          <a:p>
            <a:pPr marL="177800" indent="-1778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But two players with identical FG% can take completely different shots — one wide open at the rim, one contested from 25 feet.</a:t>
            </a:r>
            <a:endParaRPr lang="en-US" sz="1500" dirty="0"/>
          </a:p>
          <a:p>
            <a:pPr marL="177800" indent="-177800">
              <a:spcAft>
                <a:spcPts val="400"/>
              </a:spcAft>
              <a:buSzPct val="100000"/>
              <a:buChar char="•"/>
            </a:pPr>
            <a:r>
              <a:rPr lang="en-US" sz="1500" b="1" dirty="0">
                <a:solidFill>
                  <a:srgbClr val="1F3864"/>
                </a:solidFill>
                <a:latin typeface="Calibri" pitchFamily="34" charset="0"/>
                <a:ea typeface="Calibri" pitchFamily="34" charset="-122"/>
                <a:cs typeface="Calibri" pitchFamily="34" charset="-120"/>
              </a:rPr>
              <a:t>We set out to separate what FG% blends together:</a:t>
            </a:r>
            <a:endParaRPr lang="en-US" sz="1500" dirty="0"/>
          </a:p>
          <a:p>
            <a:pPr lvl="1" marL="355600" indent="-177800">
              <a:spcAft>
                <a:spcPts val="400"/>
              </a:spcAft>
              <a:buSzPct val="100000"/>
              <a:buChar char="•"/>
            </a:pPr>
            <a:r>
              <a:rPr lang="en-US" sz="1500" dirty="0">
                <a:solidFill>
                  <a:srgbClr val="222222"/>
                </a:solidFill>
                <a:latin typeface="Calibri" pitchFamily="34" charset="0"/>
                <a:ea typeface="Calibri" pitchFamily="34" charset="-122"/>
                <a:cs typeface="Calibri" pitchFamily="34" charset="-120"/>
              </a:rPr>
              <a:t>Shot selection — how hard the shots you take are</a:t>
            </a:r>
            <a:endParaRPr lang="en-US" sz="1500" dirty="0"/>
          </a:p>
          <a:p>
            <a:pPr lvl="1" marL="355600" indent="-1778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Shot-making skill — whether you beat that difficulty</a:t>
            </a:r>
            <a:endParaRPr lang="en-US" sz="1500" dirty="0"/>
          </a:p>
        </p:txBody>
      </p:sp>
      <p:sp>
        <p:nvSpPr>
          <p:cNvPr id="5" name="Shape 3"/>
          <p:cNvSpPr/>
          <p:nvPr/>
        </p:nvSpPr>
        <p:spPr>
          <a:xfrm>
            <a:off x="7315200" y="1783080"/>
            <a:ext cx="4297680" cy="1325880"/>
          </a:xfrm>
          <a:prstGeom prst="rect">
            <a:avLst/>
          </a:prstGeom>
          <a:solidFill>
            <a:srgbClr val="F4F7FB"/>
          </a:solidFill>
          <a:ln w="12700">
            <a:solidFill>
              <a:srgbClr val="DCE6F2"/>
            </a:solidFill>
            <a:prstDash val="solid"/>
          </a:ln>
          <a:effectLst>
            <a:outerShdw sx="100000" sy="100000" kx="0" ky="0" algn="bl" rotWithShape="0" blurRad="76200" dist="25400" dir="8100000">
              <a:srgbClr val="000000">
                <a:alpha val="12000"/>
              </a:srgbClr>
            </a:outerShdw>
          </a:effectLst>
        </p:spPr>
      </p:sp>
      <p:sp>
        <p:nvSpPr>
          <p:cNvPr id="6" name="Text 4"/>
          <p:cNvSpPr/>
          <p:nvPr/>
        </p:nvSpPr>
        <p:spPr>
          <a:xfrm>
            <a:off x="7406640" y="1892808"/>
            <a:ext cx="4114800" cy="583387"/>
          </a:xfrm>
          <a:prstGeom prst="rect">
            <a:avLst/>
          </a:prstGeom>
          <a:noFill/>
          <a:ln/>
        </p:spPr>
        <p:txBody>
          <a:bodyPr wrap="square" lIns="0" tIns="0" rIns="0" bIns="0" rtlCol="0" anchor="ctr"/>
          <a:lstStyle/>
          <a:p>
            <a:pPr algn="ctr" indent="0" marL="0">
              <a:buNone/>
            </a:pPr>
            <a:r>
              <a:rPr lang="en-US" sz="2600" b="1" dirty="0">
                <a:solidFill>
                  <a:srgbClr val="1F3864"/>
                </a:solidFill>
                <a:latin typeface="Georgia" pitchFamily="34" charset="0"/>
                <a:ea typeface="Georgia" pitchFamily="34" charset="-122"/>
                <a:cs typeface="Georgia" pitchFamily="34" charset="-120"/>
              </a:rPr>
              <a:t>~2 million</a:t>
            </a:r>
            <a:endParaRPr lang="en-US" sz="2600" dirty="0"/>
          </a:p>
        </p:txBody>
      </p:sp>
      <p:sp>
        <p:nvSpPr>
          <p:cNvPr id="7" name="Text 5"/>
          <p:cNvSpPr/>
          <p:nvPr/>
        </p:nvSpPr>
        <p:spPr>
          <a:xfrm>
            <a:off x="7424928" y="2446020"/>
            <a:ext cx="4078224" cy="609905"/>
          </a:xfrm>
          <a:prstGeom prst="rect">
            <a:avLst/>
          </a:prstGeom>
          <a:noFill/>
          <a:ln/>
        </p:spPr>
        <p:txBody>
          <a:bodyPr wrap="square" lIns="0" tIns="0" rIns="0" bIns="0" rtlCol="0" anchor="t"/>
          <a:lstStyle/>
          <a:p>
            <a:pPr algn="ctr" indent="0" marL="0">
              <a:buNone/>
            </a:pPr>
            <a:r>
              <a:rPr lang="en-US" sz="1200" dirty="0">
                <a:solidFill>
                  <a:srgbClr val="222222"/>
                </a:solidFill>
                <a:latin typeface="Calibri" pitchFamily="34" charset="0"/>
                <a:ea typeface="Calibri" pitchFamily="34" charset="-122"/>
                <a:cs typeface="Calibri" pitchFamily="34" charset="-120"/>
              </a:rPr>
              <a:t>tracked shots, 2013-14 to present</a:t>
            </a:r>
            <a:endParaRPr lang="en-US" sz="1200" dirty="0"/>
          </a:p>
        </p:txBody>
      </p:sp>
      <p:sp>
        <p:nvSpPr>
          <p:cNvPr id="8" name="Shape 6"/>
          <p:cNvSpPr/>
          <p:nvPr/>
        </p:nvSpPr>
        <p:spPr>
          <a:xfrm>
            <a:off x="7315200" y="3337560"/>
            <a:ext cx="2057400" cy="1325880"/>
          </a:xfrm>
          <a:prstGeom prst="rect">
            <a:avLst/>
          </a:prstGeom>
          <a:solidFill>
            <a:srgbClr val="F4F7FB"/>
          </a:solidFill>
          <a:ln w="12700">
            <a:solidFill>
              <a:srgbClr val="DCE6F2"/>
            </a:solidFill>
            <a:prstDash val="solid"/>
          </a:ln>
          <a:effectLst>
            <a:outerShdw sx="100000" sy="100000" kx="0" ky="0" algn="bl" rotWithShape="0" blurRad="76200" dist="25400" dir="8100000">
              <a:srgbClr val="000000">
                <a:alpha val="12000"/>
              </a:srgbClr>
            </a:outerShdw>
          </a:effectLst>
        </p:spPr>
      </p:sp>
      <p:sp>
        <p:nvSpPr>
          <p:cNvPr id="9" name="Text 7"/>
          <p:cNvSpPr/>
          <p:nvPr/>
        </p:nvSpPr>
        <p:spPr>
          <a:xfrm>
            <a:off x="7406640" y="3447288"/>
            <a:ext cx="1874520" cy="583387"/>
          </a:xfrm>
          <a:prstGeom prst="rect">
            <a:avLst/>
          </a:prstGeom>
          <a:noFill/>
          <a:ln/>
        </p:spPr>
        <p:txBody>
          <a:bodyPr wrap="square" lIns="0" tIns="0" rIns="0" bIns="0" rtlCol="0" anchor="ctr"/>
          <a:lstStyle/>
          <a:p>
            <a:pPr algn="ctr" indent="0" marL="0">
              <a:buNone/>
            </a:pPr>
            <a:r>
              <a:rPr lang="en-US" sz="2600" b="1" dirty="0">
                <a:solidFill>
                  <a:srgbClr val="C8102E"/>
                </a:solidFill>
                <a:latin typeface="Georgia" pitchFamily="34" charset="0"/>
                <a:ea typeface="Georgia" pitchFamily="34" charset="-122"/>
                <a:cs typeface="Georgia" pitchFamily="34" charset="-120"/>
              </a:rPr>
              <a:t>30</a:t>
            </a:r>
            <a:endParaRPr lang="en-US" sz="2600" dirty="0"/>
          </a:p>
        </p:txBody>
      </p:sp>
      <p:sp>
        <p:nvSpPr>
          <p:cNvPr id="10" name="Text 8"/>
          <p:cNvSpPr/>
          <p:nvPr/>
        </p:nvSpPr>
        <p:spPr>
          <a:xfrm>
            <a:off x="7424928" y="4000500"/>
            <a:ext cx="1837944" cy="609905"/>
          </a:xfrm>
          <a:prstGeom prst="rect">
            <a:avLst/>
          </a:prstGeom>
          <a:noFill/>
          <a:ln/>
        </p:spPr>
        <p:txBody>
          <a:bodyPr wrap="square" lIns="0" tIns="0" rIns="0" bIns="0" rtlCol="0" anchor="t"/>
          <a:lstStyle/>
          <a:p>
            <a:pPr algn="ctr" indent="0" marL="0">
              <a:buNone/>
            </a:pPr>
            <a:r>
              <a:rPr lang="en-US" sz="1200" dirty="0">
                <a:solidFill>
                  <a:srgbClr val="222222"/>
                </a:solidFill>
                <a:latin typeface="Calibri" pitchFamily="34" charset="0"/>
                <a:ea typeface="Calibri" pitchFamily="34" charset="-122"/>
                <a:cs typeface="Calibri" pitchFamily="34" charset="-120"/>
              </a:rPr>
              <a:t>franchises</a:t>
            </a:r>
            <a:endParaRPr lang="en-US" sz="1200" dirty="0"/>
          </a:p>
        </p:txBody>
      </p:sp>
      <p:sp>
        <p:nvSpPr>
          <p:cNvPr id="11" name="Shape 9"/>
          <p:cNvSpPr/>
          <p:nvPr/>
        </p:nvSpPr>
        <p:spPr>
          <a:xfrm>
            <a:off x="9555480" y="3337560"/>
            <a:ext cx="2057400" cy="1325880"/>
          </a:xfrm>
          <a:prstGeom prst="rect">
            <a:avLst/>
          </a:prstGeom>
          <a:solidFill>
            <a:srgbClr val="F4F7FB"/>
          </a:solidFill>
          <a:ln w="12700">
            <a:solidFill>
              <a:srgbClr val="DCE6F2"/>
            </a:solidFill>
            <a:prstDash val="solid"/>
          </a:ln>
          <a:effectLst>
            <a:outerShdw sx="100000" sy="100000" kx="0" ky="0" algn="bl" rotWithShape="0" blurRad="76200" dist="25400" dir="8100000">
              <a:srgbClr val="000000">
                <a:alpha val="12000"/>
              </a:srgbClr>
            </a:outerShdw>
          </a:effectLst>
        </p:spPr>
      </p:sp>
      <p:sp>
        <p:nvSpPr>
          <p:cNvPr id="12" name="Text 10"/>
          <p:cNvSpPr/>
          <p:nvPr/>
        </p:nvSpPr>
        <p:spPr>
          <a:xfrm>
            <a:off x="9646920" y="3447288"/>
            <a:ext cx="1874520" cy="583387"/>
          </a:xfrm>
          <a:prstGeom prst="rect">
            <a:avLst/>
          </a:prstGeom>
          <a:noFill/>
          <a:ln/>
        </p:spPr>
        <p:txBody>
          <a:bodyPr wrap="square" lIns="0" tIns="0" rIns="0" bIns="0" rtlCol="0" anchor="ctr"/>
          <a:lstStyle/>
          <a:p>
            <a:pPr algn="ctr" indent="0" marL="0">
              <a:buNone/>
            </a:pPr>
            <a:r>
              <a:rPr lang="en-US" sz="2600" b="1" dirty="0">
                <a:solidFill>
                  <a:srgbClr val="C8102E"/>
                </a:solidFill>
                <a:latin typeface="Georgia" pitchFamily="34" charset="0"/>
                <a:ea typeface="Georgia" pitchFamily="34" charset="-122"/>
                <a:cs typeface="Georgia" pitchFamily="34" charset="-120"/>
              </a:rPr>
              <a:t>~$11B</a:t>
            </a:r>
            <a:endParaRPr lang="en-US" sz="2600" dirty="0"/>
          </a:p>
        </p:txBody>
      </p:sp>
      <p:sp>
        <p:nvSpPr>
          <p:cNvPr id="13" name="Text 11"/>
          <p:cNvSpPr/>
          <p:nvPr/>
        </p:nvSpPr>
        <p:spPr>
          <a:xfrm>
            <a:off x="9665208" y="4000500"/>
            <a:ext cx="1837944" cy="609905"/>
          </a:xfrm>
          <a:prstGeom prst="rect">
            <a:avLst/>
          </a:prstGeom>
          <a:noFill/>
          <a:ln/>
        </p:spPr>
        <p:txBody>
          <a:bodyPr wrap="square" lIns="0" tIns="0" rIns="0" bIns="0" rtlCol="0" anchor="t"/>
          <a:lstStyle/>
          <a:p>
            <a:pPr algn="ctr" indent="0" marL="0">
              <a:buNone/>
            </a:pPr>
            <a:r>
              <a:rPr lang="en-US" sz="1200" dirty="0">
                <a:solidFill>
                  <a:srgbClr val="222222"/>
                </a:solidFill>
                <a:latin typeface="Calibri" pitchFamily="34" charset="0"/>
                <a:ea typeface="Calibri" pitchFamily="34" charset="-122"/>
                <a:cs typeface="Calibri" pitchFamily="34" charset="-120"/>
              </a:rPr>
              <a:t>annual revenue</a:t>
            </a:r>
            <a:endParaRPr lang="en-US" sz="1200" dirty="0"/>
          </a:p>
        </p:txBody>
      </p:sp>
      <p:sp>
        <p:nvSpPr>
          <p:cNvPr id="14" name="Shape 12"/>
          <p:cNvSpPr/>
          <p:nvPr/>
        </p:nvSpPr>
        <p:spPr>
          <a:xfrm>
            <a:off x="7315200" y="4892040"/>
            <a:ext cx="4297680" cy="1143000"/>
          </a:xfrm>
          <a:prstGeom prst="rect">
            <a:avLst/>
          </a:prstGeom>
          <a:solidFill>
            <a:srgbClr val="F4F7FB"/>
          </a:solidFill>
          <a:ln w="12700">
            <a:solidFill>
              <a:srgbClr val="DCE6F2"/>
            </a:solidFill>
            <a:prstDash val="solid"/>
          </a:ln>
          <a:effectLst>
            <a:outerShdw sx="100000" sy="100000" kx="0" ky="0" algn="bl" rotWithShape="0" blurRad="76200" dist="25400" dir="8100000">
              <a:srgbClr val="000000">
                <a:alpha val="12000"/>
              </a:srgbClr>
            </a:outerShdw>
          </a:effectLst>
        </p:spPr>
      </p:sp>
      <p:sp>
        <p:nvSpPr>
          <p:cNvPr id="15" name="Text 13"/>
          <p:cNvSpPr/>
          <p:nvPr/>
        </p:nvSpPr>
        <p:spPr>
          <a:xfrm>
            <a:off x="7406640" y="5001768"/>
            <a:ext cx="4114800" cy="502920"/>
          </a:xfrm>
          <a:prstGeom prst="rect">
            <a:avLst/>
          </a:prstGeom>
          <a:noFill/>
          <a:ln/>
        </p:spPr>
        <p:txBody>
          <a:bodyPr wrap="square" lIns="0" tIns="0" rIns="0" bIns="0" rtlCol="0" anchor="ctr"/>
          <a:lstStyle/>
          <a:p>
            <a:pPr algn="ctr" indent="0" marL="0">
              <a:buNone/>
            </a:pPr>
            <a:r>
              <a:rPr lang="en-US" sz="1600" b="1" dirty="0">
                <a:solidFill>
                  <a:srgbClr val="2E75B6"/>
                </a:solidFill>
                <a:latin typeface="Georgia" pitchFamily="34" charset="0"/>
                <a:ea typeface="Georgia" pitchFamily="34" charset="-122"/>
                <a:cs typeface="Georgia" pitchFamily="34" charset="-120"/>
              </a:rPr>
              <a:t>Optical tracking since 2013-14</a:t>
            </a:r>
            <a:endParaRPr lang="en-US" sz="1600" dirty="0"/>
          </a:p>
        </p:txBody>
      </p:sp>
      <p:sp>
        <p:nvSpPr>
          <p:cNvPr id="16" name="Text 14"/>
          <p:cNvSpPr/>
          <p:nvPr/>
        </p:nvSpPr>
        <p:spPr>
          <a:xfrm>
            <a:off x="7424928" y="5463540"/>
            <a:ext cx="4078224" cy="525780"/>
          </a:xfrm>
          <a:prstGeom prst="rect">
            <a:avLst/>
          </a:prstGeom>
          <a:noFill/>
          <a:ln/>
        </p:spPr>
        <p:txBody>
          <a:bodyPr wrap="square" lIns="0" tIns="0" rIns="0" bIns="0" rtlCol="0" anchor="t"/>
          <a:lstStyle/>
          <a:p>
            <a:pPr algn="ctr" indent="0" marL="0">
              <a:buNone/>
            </a:pPr>
            <a:r>
              <a:rPr lang="en-US" sz="1200" dirty="0">
                <a:solidFill>
                  <a:srgbClr val="222222"/>
                </a:solidFill>
                <a:latin typeface="Calibri" pitchFamily="34" charset="0"/>
                <a:ea typeface="Calibri" pitchFamily="34" charset="-122"/>
                <a:cs typeface="Calibri" pitchFamily="34" charset="-120"/>
              </a:rPr>
              <a:t>a decade of shot-by-shot data — our foundation</a:t>
            </a:r>
            <a:endParaRPr lang="en-US" sz="1200" dirty="0"/>
          </a:p>
        </p:txBody>
      </p:sp>
      <p:sp>
        <p:nvSpPr>
          <p:cNvPr id="17" name="Text 15"/>
          <p:cNvSpPr/>
          <p:nvPr/>
        </p:nvSpPr>
        <p:spPr>
          <a:xfrm>
            <a:off x="548640" y="6510528"/>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NBA Shot Quality Capstone — DAT 490 (Summer A 2026)</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100" b="1" spc="200" kern="0" dirty="0">
                <a:solidFill>
                  <a:srgbClr val="2E75B6"/>
                </a:solidFill>
                <a:latin typeface="Calibri" pitchFamily="34" charset="0"/>
                <a:ea typeface="Calibri" pitchFamily="34" charset="-122"/>
                <a:cs typeface="Calibri" pitchFamily="34" charset="-120"/>
              </a:rPr>
              <a:t>RESEARCH QUESTIONS  ·  COLE</a:t>
            </a:r>
            <a:endParaRPr lang="en-US" sz="1100" dirty="0"/>
          </a:p>
        </p:txBody>
      </p:sp>
      <p:sp>
        <p:nvSpPr>
          <p:cNvPr id="3" name="Text 1"/>
          <p:cNvSpPr/>
          <p:nvPr/>
        </p:nvSpPr>
        <p:spPr>
          <a:xfrm>
            <a:off x="548640" y="566928"/>
            <a:ext cx="11064240" cy="868680"/>
          </a:xfrm>
          <a:prstGeom prst="rect">
            <a:avLst/>
          </a:prstGeom>
          <a:noFill/>
          <a:ln/>
        </p:spPr>
        <p:txBody>
          <a:bodyPr wrap="square" lIns="0" tIns="0" rIns="0" bIns="0" rtlCol="0" anchor="t"/>
          <a:lstStyle/>
          <a:p>
            <a:pPr indent="0" marL="0">
              <a:buNone/>
            </a:pPr>
            <a:r>
              <a:rPr lang="en-US" sz="2900" b="1" dirty="0">
                <a:solidFill>
                  <a:srgbClr val="1F3864"/>
                </a:solidFill>
                <a:latin typeface="Georgia" pitchFamily="34" charset="0"/>
                <a:ea typeface="Georgia" pitchFamily="34" charset="-122"/>
                <a:cs typeface="Georgia" pitchFamily="34" charset="-120"/>
              </a:rPr>
              <a:t>Three questions we carried through the whole project</a:t>
            </a:r>
            <a:endParaRPr lang="en-US" sz="2900" dirty="0"/>
          </a:p>
        </p:txBody>
      </p:sp>
      <p:sp>
        <p:nvSpPr>
          <p:cNvPr id="4" name="Shape 2"/>
          <p:cNvSpPr/>
          <p:nvPr/>
        </p:nvSpPr>
        <p:spPr>
          <a:xfrm>
            <a:off x="548640" y="1783080"/>
            <a:ext cx="11091672" cy="1325880"/>
          </a:xfrm>
          <a:prstGeom prst="rect">
            <a:avLst/>
          </a:prstGeom>
          <a:solidFill>
            <a:srgbClr val="F4F7FB"/>
          </a:solidFill>
          <a:ln w="12700">
            <a:solidFill>
              <a:srgbClr val="DCE6F2"/>
            </a:solidFill>
            <a:prstDash val="solid"/>
          </a:ln>
          <a:effectLst>
            <a:outerShdw sx="100000" sy="100000" kx="0" ky="0" algn="bl" rotWithShape="0" blurRad="76200" dist="25400" dir="8100000">
              <a:srgbClr val="000000">
                <a:alpha val="12000"/>
              </a:srgbClr>
            </a:outerShdw>
          </a:effectLst>
        </p:spPr>
      </p:sp>
      <p:sp>
        <p:nvSpPr>
          <p:cNvPr id="5" name="Shape 3"/>
          <p:cNvSpPr/>
          <p:nvPr/>
        </p:nvSpPr>
        <p:spPr>
          <a:xfrm>
            <a:off x="548640" y="1783080"/>
            <a:ext cx="109728" cy="1325880"/>
          </a:xfrm>
          <a:prstGeom prst="rect">
            <a:avLst/>
          </a:prstGeom>
          <a:solidFill>
            <a:srgbClr val="C8102E"/>
          </a:solidFill>
          <a:ln/>
        </p:spPr>
      </p:sp>
      <p:sp>
        <p:nvSpPr>
          <p:cNvPr id="6" name="Text 4"/>
          <p:cNvSpPr/>
          <p:nvPr/>
        </p:nvSpPr>
        <p:spPr>
          <a:xfrm>
            <a:off x="777240" y="1783080"/>
            <a:ext cx="1554480" cy="1325880"/>
          </a:xfrm>
          <a:prstGeom prst="rect">
            <a:avLst/>
          </a:prstGeom>
          <a:noFill/>
          <a:ln/>
        </p:spPr>
        <p:txBody>
          <a:bodyPr wrap="square" lIns="0" tIns="0" rIns="0" bIns="0" rtlCol="0" anchor="ctr"/>
          <a:lstStyle/>
          <a:p>
            <a:pPr indent="0" marL="0">
              <a:buNone/>
            </a:pPr>
            <a:r>
              <a:rPr lang="en-US" sz="3000" b="1" dirty="0">
                <a:solidFill>
                  <a:srgbClr val="1F3864"/>
                </a:solidFill>
                <a:latin typeface="Georgia" pitchFamily="34" charset="0"/>
                <a:ea typeface="Georgia" pitchFamily="34" charset="-122"/>
                <a:cs typeface="Georgia" pitchFamily="34" charset="-120"/>
              </a:rPr>
              <a:t>RQ1</a:t>
            </a:r>
            <a:endParaRPr lang="en-US" sz="3000" dirty="0"/>
          </a:p>
        </p:txBody>
      </p:sp>
      <p:sp>
        <p:nvSpPr>
          <p:cNvPr id="7" name="Text 5"/>
          <p:cNvSpPr/>
          <p:nvPr/>
        </p:nvSpPr>
        <p:spPr>
          <a:xfrm>
            <a:off x="2331720" y="1783080"/>
            <a:ext cx="9052560" cy="1325880"/>
          </a:xfrm>
          <a:prstGeom prst="rect">
            <a:avLst/>
          </a:prstGeom>
          <a:noFill/>
          <a:ln/>
        </p:spPr>
        <p:txBody>
          <a:bodyPr wrap="square" lIns="0" tIns="0" rIns="0" bIns="0" rtlCol="0" anchor="ctr"/>
          <a:lstStyle/>
          <a:p>
            <a:pPr indent="0" marL="0">
              <a:buNone/>
            </a:pPr>
            <a:r>
              <a:rPr lang="en-US" sz="1700" dirty="0">
                <a:solidFill>
                  <a:srgbClr val="222222"/>
                </a:solidFill>
                <a:latin typeface="Calibri" pitchFamily="34" charset="0"/>
                <a:ea typeface="Calibri" pitchFamily="34" charset="-122"/>
                <a:cs typeface="Calibri" pitchFamily="34" charset="-120"/>
              </a:rPr>
              <a:t>Which players and teams consistently outperform their expected shot value — and what distinguishes them?</a:t>
            </a:r>
            <a:endParaRPr lang="en-US" sz="1700" dirty="0"/>
          </a:p>
        </p:txBody>
      </p:sp>
      <p:sp>
        <p:nvSpPr>
          <p:cNvPr id="8" name="Shape 6"/>
          <p:cNvSpPr/>
          <p:nvPr/>
        </p:nvSpPr>
        <p:spPr>
          <a:xfrm>
            <a:off x="548640" y="3264408"/>
            <a:ext cx="11091672" cy="1325880"/>
          </a:xfrm>
          <a:prstGeom prst="rect">
            <a:avLst/>
          </a:prstGeom>
          <a:solidFill>
            <a:srgbClr val="F4F7FB"/>
          </a:solidFill>
          <a:ln w="12700">
            <a:solidFill>
              <a:srgbClr val="DCE6F2"/>
            </a:solidFill>
            <a:prstDash val="solid"/>
          </a:ln>
          <a:effectLst>
            <a:outerShdw sx="100000" sy="100000" kx="0" ky="0" algn="bl" rotWithShape="0" blurRad="76200" dist="25400" dir="8100000">
              <a:srgbClr val="000000">
                <a:alpha val="12000"/>
              </a:srgbClr>
            </a:outerShdw>
          </a:effectLst>
        </p:spPr>
      </p:sp>
      <p:sp>
        <p:nvSpPr>
          <p:cNvPr id="9" name="Shape 7"/>
          <p:cNvSpPr/>
          <p:nvPr/>
        </p:nvSpPr>
        <p:spPr>
          <a:xfrm>
            <a:off x="548640" y="3264408"/>
            <a:ext cx="109728" cy="1325880"/>
          </a:xfrm>
          <a:prstGeom prst="rect">
            <a:avLst/>
          </a:prstGeom>
          <a:solidFill>
            <a:srgbClr val="C8102E"/>
          </a:solidFill>
          <a:ln/>
        </p:spPr>
      </p:sp>
      <p:sp>
        <p:nvSpPr>
          <p:cNvPr id="10" name="Text 8"/>
          <p:cNvSpPr/>
          <p:nvPr/>
        </p:nvSpPr>
        <p:spPr>
          <a:xfrm>
            <a:off x="777240" y="3264408"/>
            <a:ext cx="1554480" cy="1325880"/>
          </a:xfrm>
          <a:prstGeom prst="rect">
            <a:avLst/>
          </a:prstGeom>
          <a:noFill/>
          <a:ln/>
        </p:spPr>
        <p:txBody>
          <a:bodyPr wrap="square" lIns="0" tIns="0" rIns="0" bIns="0" rtlCol="0" anchor="ctr"/>
          <a:lstStyle/>
          <a:p>
            <a:pPr indent="0" marL="0">
              <a:buNone/>
            </a:pPr>
            <a:r>
              <a:rPr lang="en-US" sz="3000" b="1" dirty="0">
                <a:solidFill>
                  <a:srgbClr val="1F3864"/>
                </a:solidFill>
                <a:latin typeface="Georgia" pitchFamily="34" charset="0"/>
                <a:ea typeface="Georgia" pitchFamily="34" charset="-122"/>
                <a:cs typeface="Georgia" pitchFamily="34" charset="-120"/>
              </a:rPr>
              <a:t>RQ2</a:t>
            </a:r>
            <a:endParaRPr lang="en-US" sz="3000" dirty="0"/>
          </a:p>
        </p:txBody>
      </p:sp>
      <p:sp>
        <p:nvSpPr>
          <p:cNvPr id="11" name="Text 9"/>
          <p:cNvSpPr/>
          <p:nvPr/>
        </p:nvSpPr>
        <p:spPr>
          <a:xfrm>
            <a:off x="2331720" y="3264408"/>
            <a:ext cx="9052560" cy="1325880"/>
          </a:xfrm>
          <a:prstGeom prst="rect">
            <a:avLst/>
          </a:prstGeom>
          <a:noFill/>
          <a:ln/>
        </p:spPr>
        <p:txBody>
          <a:bodyPr wrap="square" lIns="0" tIns="0" rIns="0" bIns="0" rtlCol="0" anchor="ctr"/>
          <a:lstStyle/>
          <a:p>
            <a:pPr indent="0" marL="0">
              <a:buNone/>
            </a:pPr>
            <a:r>
              <a:rPr lang="en-US" sz="1700" dirty="0">
                <a:solidFill>
                  <a:srgbClr val="222222"/>
                </a:solidFill>
                <a:latin typeface="Calibri" pitchFamily="34" charset="0"/>
                <a:ea typeface="Calibri" pitchFamily="34" charset="-122"/>
                <a:cs typeface="Calibri" pitchFamily="34" charset="-120"/>
              </a:rPr>
              <a:t>How has shot success by court location changed across the 2013-present tracking era?</a:t>
            </a:r>
            <a:endParaRPr lang="en-US" sz="1700" dirty="0"/>
          </a:p>
        </p:txBody>
      </p:sp>
      <p:sp>
        <p:nvSpPr>
          <p:cNvPr id="12" name="Shape 10"/>
          <p:cNvSpPr/>
          <p:nvPr/>
        </p:nvSpPr>
        <p:spPr>
          <a:xfrm>
            <a:off x="548640" y="4745736"/>
            <a:ext cx="11091672" cy="1325880"/>
          </a:xfrm>
          <a:prstGeom prst="rect">
            <a:avLst/>
          </a:prstGeom>
          <a:solidFill>
            <a:srgbClr val="F4F7FB"/>
          </a:solidFill>
          <a:ln w="12700">
            <a:solidFill>
              <a:srgbClr val="DCE6F2"/>
            </a:solidFill>
            <a:prstDash val="solid"/>
          </a:ln>
          <a:effectLst>
            <a:outerShdw sx="100000" sy="100000" kx="0" ky="0" algn="bl" rotWithShape="0" blurRad="76200" dist="25400" dir="8100000">
              <a:srgbClr val="000000">
                <a:alpha val="12000"/>
              </a:srgbClr>
            </a:outerShdw>
          </a:effectLst>
        </p:spPr>
      </p:sp>
      <p:sp>
        <p:nvSpPr>
          <p:cNvPr id="13" name="Shape 11"/>
          <p:cNvSpPr/>
          <p:nvPr/>
        </p:nvSpPr>
        <p:spPr>
          <a:xfrm>
            <a:off x="548640" y="4745736"/>
            <a:ext cx="109728" cy="1325880"/>
          </a:xfrm>
          <a:prstGeom prst="rect">
            <a:avLst/>
          </a:prstGeom>
          <a:solidFill>
            <a:srgbClr val="C8102E"/>
          </a:solidFill>
          <a:ln/>
        </p:spPr>
      </p:sp>
      <p:sp>
        <p:nvSpPr>
          <p:cNvPr id="14" name="Text 12"/>
          <p:cNvSpPr/>
          <p:nvPr/>
        </p:nvSpPr>
        <p:spPr>
          <a:xfrm>
            <a:off x="777240" y="4745736"/>
            <a:ext cx="1554480" cy="1325880"/>
          </a:xfrm>
          <a:prstGeom prst="rect">
            <a:avLst/>
          </a:prstGeom>
          <a:noFill/>
          <a:ln/>
        </p:spPr>
        <p:txBody>
          <a:bodyPr wrap="square" lIns="0" tIns="0" rIns="0" bIns="0" rtlCol="0" anchor="ctr"/>
          <a:lstStyle/>
          <a:p>
            <a:pPr indent="0" marL="0">
              <a:buNone/>
            </a:pPr>
            <a:r>
              <a:rPr lang="en-US" sz="3000" b="1" dirty="0">
                <a:solidFill>
                  <a:srgbClr val="1F3864"/>
                </a:solidFill>
                <a:latin typeface="Georgia" pitchFamily="34" charset="0"/>
                <a:ea typeface="Georgia" pitchFamily="34" charset="-122"/>
                <a:cs typeface="Georgia" pitchFamily="34" charset="-120"/>
              </a:rPr>
              <a:t>RQ3</a:t>
            </a:r>
            <a:endParaRPr lang="en-US" sz="3000" dirty="0"/>
          </a:p>
        </p:txBody>
      </p:sp>
      <p:sp>
        <p:nvSpPr>
          <p:cNvPr id="15" name="Text 13"/>
          <p:cNvSpPr/>
          <p:nvPr/>
        </p:nvSpPr>
        <p:spPr>
          <a:xfrm>
            <a:off x="2331720" y="4745736"/>
            <a:ext cx="9052560" cy="1325880"/>
          </a:xfrm>
          <a:prstGeom prst="rect">
            <a:avLst/>
          </a:prstGeom>
          <a:noFill/>
          <a:ln/>
        </p:spPr>
        <p:txBody>
          <a:bodyPr wrap="square" lIns="0" tIns="0" rIns="0" bIns="0" rtlCol="0" anchor="ctr"/>
          <a:lstStyle/>
          <a:p>
            <a:pPr indent="0" marL="0">
              <a:buNone/>
            </a:pPr>
            <a:r>
              <a:rPr lang="en-US" sz="1700" dirty="0">
                <a:solidFill>
                  <a:srgbClr val="222222"/>
                </a:solidFill>
                <a:latin typeface="Calibri" pitchFamily="34" charset="0"/>
                <a:ea typeface="Calibri" pitchFamily="34" charset="-122"/>
                <a:cs typeface="Calibri" pitchFamily="34" charset="-120"/>
              </a:rPr>
              <a:t>Does a shot-quality-adjusted player ranking differ from traditional efficiency metrics (FG%, eFG%, TS%)?</a:t>
            </a:r>
            <a:endParaRPr lang="en-US" sz="1700" dirty="0"/>
          </a:p>
        </p:txBody>
      </p:sp>
      <p:sp>
        <p:nvSpPr>
          <p:cNvPr id="16" name="Text 14"/>
          <p:cNvSpPr/>
          <p:nvPr/>
        </p:nvSpPr>
        <p:spPr>
          <a:xfrm>
            <a:off x="548640" y="6510528"/>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NBA Shot Quality Capstone — DAT 490 (Summer A 2026)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100" b="1" spc="200" kern="0" dirty="0">
                <a:solidFill>
                  <a:srgbClr val="2E75B6"/>
                </a:solidFill>
                <a:latin typeface="Calibri" pitchFamily="34" charset="0"/>
                <a:ea typeface="Calibri" pitchFamily="34" charset="-122"/>
                <a:cs typeface="Calibri" pitchFamily="34" charset="-120"/>
              </a:rPr>
              <a:t>LITERATURE REVIEW  ·  COLE</a:t>
            </a:r>
            <a:endParaRPr lang="en-US" sz="1100" dirty="0"/>
          </a:p>
        </p:txBody>
      </p:sp>
      <p:sp>
        <p:nvSpPr>
          <p:cNvPr id="3" name="Text 1"/>
          <p:cNvSpPr/>
          <p:nvPr/>
        </p:nvSpPr>
        <p:spPr>
          <a:xfrm>
            <a:off x="548640" y="566928"/>
            <a:ext cx="11064240" cy="868680"/>
          </a:xfrm>
          <a:prstGeom prst="rect">
            <a:avLst/>
          </a:prstGeom>
          <a:noFill/>
          <a:ln/>
        </p:spPr>
        <p:txBody>
          <a:bodyPr wrap="square" lIns="0" tIns="0" rIns="0" bIns="0" rtlCol="0" anchor="t"/>
          <a:lstStyle/>
          <a:p>
            <a:pPr indent="0" marL="0">
              <a:buNone/>
            </a:pPr>
            <a:r>
              <a:rPr lang="en-US" sz="2900" b="1" dirty="0">
                <a:solidFill>
                  <a:srgbClr val="1F3864"/>
                </a:solidFill>
                <a:latin typeface="Georgia" pitchFamily="34" charset="0"/>
                <a:ea typeface="Georgia" pitchFamily="34" charset="-122"/>
                <a:cs typeface="Georgia" pitchFamily="34" charset="-120"/>
              </a:rPr>
              <a:t>Where our work sits in the research</a:t>
            </a:r>
            <a:endParaRPr lang="en-US" sz="2900" dirty="0"/>
          </a:p>
        </p:txBody>
      </p:sp>
      <p:sp>
        <p:nvSpPr>
          <p:cNvPr id="4" name="Shape 2"/>
          <p:cNvSpPr/>
          <p:nvPr/>
        </p:nvSpPr>
        <p:spPr>
          <a:xfrm>
            <a:off x="548640" y="1783080"/>
            <a:ext cx="3575304" cy="4023360"/>
          </a:xfrm>
          <a:prstGeom prst="rect">
            <a:avLst/>
          </a:prstGeom>
          <a:solidFill>
            <a:srgbClr val="F4F7FB"/>
          </a:solidFill>
          <a:ln w="12700">
            <a:solidFill>
              <a:srgbClr val="DCE6F2"/>
            </a:solidFill>
            <a:prstDash val="solid"/>
          </a:ln>
          <a:effectLst>
            <a:outerShdw sx="100000" sy="100000" kx="0" ky="0" algn="bl" rotWithShape="0" blurRad="76200" dist="25400" dir="8100000">
              <a:srgbClr val="000000">
                <a:alpha val="12000"/>
              </a:srgbClr>
            </a:outerShdw>
          </a:effectLst>
        </p:spPr>
      </p:sp>
      <p:sp>
        <p:nvSpPr>
          <p:cNvPr id="5" name="Shape 3"/>
          <p:cNvSpPr/>
          <p:nvPr/>
        </p:nvSpPr>
        <p:spPr>
          <a:xfrm>
            <a:off x="548640" y="1783080"/>
            <a:ext cx="3575304" cy="109728"/>
          </a:xfrm>
          <a:prstGeom prst="rect">
            <a:avLst/>
          </a:prstGeom>
          <a:solidFill>
            <a:srgbClr val="2E75B6"/>
          </a:solidFill>
          <a:ln/>
        </p:spPr>
      </p:sp>
      <p:sp>
        <p:nvSpPr>
          <p:cNvPr id="6" name="Text 4"/>
          <p:cNvSpPr/>
          <p:nvPr/>
        </p:nvSpPr>
        <p:spPr>
          <a:xfrm>
            <a:off x="777240" y="2057400"/>
            <a:ext cx="3118104" cy="1005840"/>
          </a:xfrm>
          <a:prstGeom prst="rect">
            <a:avLst/>
          </a:prstGeom>
          <a:noFill/>
          <a:ln/>
        </p:spPr>
        <p:txBody>
          <a:bodyPr wrap="square" lIns="0" tIns="0" rIns="0" bIns="0" rtlCol="0" anchor="t"/>
          <a:lstStyle/>
          <a:p>
            <a:pPr indent="0" marL="0">
              <a:buNone/>
            </a:pPr>
            <a:r>
              <a:rPr lang="en-US" sz="1900" b="1" dirty="0">
                <a:solidFill>
                  <a:srgbClr val="1F3864"/>
                </a:solidFill>
                <a:latin typeface="Georgia" pitchFamily="34" charset="0"/>
                <a:ea typeface="Georgia" pitchFamily="34" charset="-122"/>
                <a:cs typeface="Georgia" pitchFamily="34" charset="-120"/>
              </a:rPr>
              <a:t>The analytics era</a:t>
            </a:r>
            <a:endParaRPr lang="en-US" sz="1900" dirty="0"/>
          </a:p>
        </p:txBody>
      </p:sp>
      <p:sp>
        <p:nvSpPr>
          <p:cNvPr id="7" name="Text 5"/>
          <p:cNvSpPr/>
          <p:nvPr/>
        </p:nvSpPr>
        <p:spPr>
          <a:xfrm>
            <a:off x="777240" y="3063240"/>
            <a:ext cx="3118104" cy="2560320"/>
          </a:xfrm>
          <a:prstGeom prst="rect">
            <a:avLst/>
          </a:prstGeom>
          <a:noFill/>
          <a:ln/>
        </p:spPr>
        <p:txBody>
          <a:bodyPr wrap="square" lIns="0" tIns="0" rIns="0" bIns="0" rtlCol="0" anchor="t"/>
          <a:lstStyle/>
          <a:p>
            <a:pPr indent="0" marL="0">
              <a:buNone/>
            </a:pPr>
            <a:r>
              <a:rPr lang="en-US" sz="1450" dirty="0">
                <a:solidFill>
                  <a:srgbClr val="222222"/>
                </a:solidFill>
                <a:latin typeface="Calibri" pitchFamily="34" charset="0"/>
                <a:ea typeface="Calibri" pitchFamily="34" charset="-122"/>
                <a:cs typeface="Calibri" pitchFamily="34" charset="-120"/>
              </a:rPr>
              <a:t>Dean Oliver's tempo-based thinking moved the league beyond per-game averages to points-per-possession and the "four factors."</a:t>
            </a:r>
            <a:endParaRPr lang="en-US" sz="1450" dirty="0"/>
          </a:p>
        </p:txBody>
      </p:sp>
      <p:sp>
        <p:nvSpPr>
          <p:cNvPr id="8" name="Shape 6"/>
          <p:cNvSpPr/>
          <p:nvPr/>
        </p:nvSpPr>
        <p:spPr>
          <a:xfrm>
            <a:off x="4306824" y="1783080"/>
            <a:ext cx="3575304" cy="4023360"/>
          </a:xfrm>
          <a:prstGeom prst="rect">
            <a:avLst/>
          </a:prstGeom>
          <a:solidFill>
            <a:srgbClr val="F4F7FB"/>
          </a:solidFill>
          <a:ln w="12700">
            <a:solidFill>
              <a:srgbClr val="DCE6F2"/>
            </a:solidFill>
            <a:prstDash val="solid"/>
          </a:ln>
          <a:effectLst>
            <a:outerShdw sx="100000" sy="100000" kx="0" ky="0" algn="bl" rotWithShape="0" blurRad="76200" dist="25400" dir="8100000">
              <a:srgbClr val="000000">
                <a:alpha val="12000"/>
              </a:srgbClr>
            </a:outerShdw>
          </a:effectLst>
        </p:spPr>
      </p:sp>
      <p:sp>
        <p:nvSpPr>
          <p:cNvPr id="9" name="Shape 7"/>
          <p:cNvSpPr/>
          <p:nvPr/>
        </p:nvSpPr>
        <p:spPr>
          <a:xfrm>
            <a:off x="4306824" y="1783080"/>
            <a:ext cx="3575304" cy="109728"/>
          </a:xfrm>
          <a:prstGeom prst="rect">
            <a:avLst/>
          </a:prstGeom>
          <a:solidFill>
            <a:srgbClr val="2E75B6"/>
          </a:solidFill>
          <a:ln/>
        </p:spPr>
      </p:sp>
      <p:sp>
        <p:nvSpPr>
          <p:cNvPr id="10" name="Text 8"/>
          <p:cNvSpPr/>
          <p:nvPr/>
        </p:nvSpPr>
        <p:spPr>
          <a:xfrm>
            <a:off x="4535424" y="2057400"/>
            <a:ext cx="3118104" cy="1005840"/>
          </a:xfrm>
          <a:prstGeom prst="rect">
            <a:avLst/>
          </a:prstGeom>
          <a:noFill/>
          <a:ln/>
        </p:spPr>
        <p:txBody>
          <a:bodyPr wrap="square" lIns="0" tIns="0" rIns="0" bIns="0" rtlCol="0" anchor="t"/>
          <a:lstStyle/>
          <a:p>
            <a:pPr indent="0" marL="0">
              <a:buNone/>
            </a:pPr>
            <a:r>
              <a:rPr lang="en-US" sz="1900" b="1" dirty="0">
                <a:solidFill>
                  <a:srgbClr val="1F3864"/>
                </a:solidFill>
                <a:latin typeface="Georgia" pitchFamily="34" charset="0"/>
                <a:ea typeface="Georgia" pitchFamily="34" charset="-122"/>
                <a:cs typeface="Georgia" pitchFamily="34" charset="-120"/>
              </a:rPr>
              <a:t>Shot-quality &amp; EPV models</a:t>
            </a:r>
            <a:endParaRPr lang="en-US" sz="1900" dirty="0"/>
          </a:p>
        </p:txBody>
      </p:sp>
      <p:sp>
        <p:nvSpPr>
          <p:cNvPr id="11" name="Text 9"/>
          <p:cNvSpPr/>
          <p:nvPr/>
        </p:nvSpPr>
        <p:spPr>
          <a:xfrm>
            <a:off x="4535424" y="3063240"/>
            <a:ext cx="3118104" cy="2560320"/>
          </a:xfrm>
          <a:prstGeom prst="rect">
            <a:avLst/>
          </a:prstGeom>
          <a:noFill/>
          <a:ln/>
        </p:spPr>
        <p:txBody>
          <a:bodyPr wrap="square" lIns="0" tIns="0" rIns="0" bIns="0" rtlCol="0" anchor="t"/>
          <a:lstStyle/>
          <a:p>
            <a:pPr indent="0" marL="0">
              <a:buNone/>
            </a:pPr>
            <a:r>
              <a:rPr lang="en-US" sz="1450" dirty="0">
                <a:solidFill>
                  <a:srgbClr val="222222"/>
                </a:solidFill>
                <a:latin typeface="Calibri" pitchFamily="34" charset="0"/>
                <a:ea typeface="Calibri" pitchFamily="34" charset="-122"/>
                <a:cs typeface="Calibri" pitchFamily="34" charset="-120"/>
              </a:rPr>
              <a:t>Cervone et al. (MIT) score the value of a possession as it unfolds — the modeling tradition our shot-quality model builds on.</a:t>
            </a:r>
            <a:endParaRPr lang="en-US" sz="1450" dirty="0"/>
          </a:p>
        </p:txBody>
      </p:sp>
      <p:sp>
        <p:nvSpPr>
          <p:cNvPr id="12" name="Shape 10"/>
          <p:cNvSpPr/>
          <p:nvPr/>
        </p:nvSpPr>
        <p:spPr>
          <a:xfrm>
            <a:off x="8065008" y="1783080"/>
            <a:ext cx="3575304" cy="4023360"/>
          </a:xfrm>
          <a:prstGeom prst="rect">
            <a:avLst/>
          </a:prstGeom>
          <a:solidFill>
            <a:srgbClr val="F4F7FB"/>
          </a:solidFill>
          <a:ln w="12700">
            <a:solidFill>
              <a:srgbClr val="DCE6F2"/>
            </a:solidFill>
            <a:prstDash val="solid"/>
          </a:ln>
          <a:effectLst>
            <a:outerShdw sx="100000" sy="100000" kx="0" ky="0" algn="bl" rotWithShape="0" blurRad="76200" dist="25400" dir="8100000">
              <a:srgbClr val="000000">
                <a:alpha val="12000"/>
              </a:srgbClr>
            </a:outerShdw>
          </a:effectLst>
        </p:spPr>
      </p:sp>
      <p:sp>
        <p:nvSpPr>
          <p:cNvPr id="13" name="Shape 11"/>
          <p:cNvSpPr/>
          <p:nvPr/>
        </p:nvSpPr>
        <p:spPr>
          <a:xfrm>
            <a:off x="8065008" y="1783080"/>
            <a:ext cx="3575304" cy="109728"/>
          </a:xfrm>
          <a:prstGeom prst="rect">
            <a:avLst/>
          </a:prstGeom>
          <a:solidFill>
            <a:srgbClr val="2E75B6"/>
          </a:solidFill>
          <a:ln/>
        </p:spPr>
      </p:sp>
      <p:sp>
        <p:nvSpPr>
          <p:cNvPr id="14" name="Text 12"/>
          <p:cNvSpPr/>
          <p:nvPr/>
        </p:nvSpPr>
        <p:spPr>
          <a:xfrm>
            <a:off x="8293608" y="2057400"/>
            <a:ext cx="3118104" cy="1005840"/>
          </a:xfrm>
          <a:prstGeom prst="rect">
            <a:avLst/>
          </a:prstGeom>
          <a:noFill/>
          <a:ln/>
        </p:spPr>
        <p:txBody>
          <a:bodyPr wrap="square" lIns="0" tIns="0" rIns="0" bIns="0" rtlCol="0" anchor="t"/>
          <a:lstStyle/>
          <a:p>
            <a:pPr indent="0" marL="0">
              <a:buNone/>
            </a:pPr>
            <a:r>
              <a:rPr lang="en-US" sz="1900" b="1" dirty="0">
                <a:solidFill>
                  <a:srgbClr val="1F3864"/>
                </a:solidFill>
                <a:latin typeface="Georgia" pitchFamily="34" charset="0"/>
                <a:ea typeface="Georgia" pitchFamily="34" charset="-122"/>
                <a:cs typeface="Georgia" pitchFamily="34" charset="-120"/>
              </a:rPr>
              <a:t>Evaluation &amp; ethics</a:t>
            </a:r>
            <a:endParaRPr lang="en-US" sz="1900" dirty="0"/>
          </a:p>
        </p:txBody>
      </p:sp>
      <p:sp>
        <p:nvSpPr>
          <p:cNvPr id="15" name="Text 13"/>
          <p:cNvSpPr/>
          <p:nvPr/>
        </p:nvSpPr>
        <p:spPr>
          <a:xfrm>
            <a:off x="8293608" y="3063240"/>
            <a:ext cx="3118104" cy="2560320"/>
          </a:xfrm>
          <a:prstGeom prst="rect">
            <a:avLst/>
          </a:prstGeom>
          <a:noFill/>
          <a:ln/>
        </p:spPr>
        <p:txBody>
          <a:bodyPr wrap="square" lIns="0" tIns="0" rIns="0" bIns="0" rtlCol="0" anchor="t"/>
          <a:lstStyle/>
          <a:p>
            <a:pPr indent="0" marL="0">
              <a:buNone/>
            </a:pPr>
            <a:r>
              <a:rPr lang="en-US" sz="1450" dirty="0">
                <a:solidFill>
                  <a:srgbClr val="222222"/>
                </a:solidFill>
                <a:latin typeface="Calibri" pitchFamily="34" charset="0"/>
                <a:ea typeface="Calibri" pitchFamily="34" charset="-122"/>
                <a:cs typeface="Calibri" pitchFamily="34" charset="-120"/>
              </a:rPr>
              <a:t>Muller's "tyranny of metrics" and Thomas &amp; Uminsky warn against leaning on any single number — cautions we take seriously.</a:t>
            </a:r>
            <a:endParaRPr lang="en-US" sz="1450" dirty="0"/>
          </a:p>
        </p:txBody>
      </p:sp>
      <p:sp>
        <p:nvSpPr>
          <p:cNvPr id="16" name="Text 14"/>
          <p:cNvSpPr/>
          <p:nvPr/>
        </p:nvSpPr>
        <p:spPr>
          <a:xfrm>
            <a:off x="548640" y="6510528"/>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NBA Shot Quality Capstone — DAT 490 (Summer A 2026)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7315200" y="182880"/>
            <a:ext cx="4663440" cy="6492240"/>
          </a:xfrm>
          <a:prstGeom prst="rect">
            <a:avLst/>
          </a:prstGeom>
          <a:noFill/>
          <a:ln/>
        </p:spPr>
        <p:txBody>
          <a:bodyPr wrap="square" lIns="0" tIns="0" rIns="0" bIns="0" rtlCol="0" anchor="ctr"/>
          <a:lstStyle/>
          <a:p>
            <a:pPr algn="r" indent="0" marL="0">
              <a:buNone/>
            </a:pPr>
            <a:r>
              <a:rPr lang="en-US" sz="30000" b="1" dirty="0">
                <a:solidFill>
                  <a:srgbClr val="2A4A78"/>
                </a:solidFill>
                <a:latin typeface="Georgia" pitchFamily="34" charset="0"/>
                <a:ea typeface="Georgia" pitchFamily="34" charset="-122"/>
                <a:cs typeface="Georgia" pitchFamily="34" charset="-120"/>
              </a:rPr>
              <a:t>2</a:t>
            </a:r>
            <a:endParaRPr lang="en-US" sz="30000" dirty="0"/>
          </a:p>
        </p:txBody>
      </p:sp>
      <p:sp>
        <p:nvSpPr>
          <p:cNvPr id="3" name="Text 1"/>
          <p:cNvSpPr/>
          <p:nvPr/>
        </p:nvSpPr>
        <p:spPr>
          <a:xfrm>
            <a:off x="777240" y="1828800"/>
            <a:ext cx="7315200" cy="365760"/>
          </a:xfrm>
          <a:prstGeom prst="rect">
            <a:avLst/>
          </a:prstGeom>
          <a:noFill/>
          <a:ln/>
        </p:spPr>
        <p:txBody>
          <a:bodyPr wrap="square" lIns="0" tIns="0" rIns="0" bIns="0" rtlCol="0" anchor="ctr"/>
          <a:lstStyle/>
          <a:p>
            <a:pPr indent="0" marL="0">
              <a:buNone/>
            </a:pPr>
            <a:r>
              <a:rPr lang="en-US" sz="1500" b="1" spc="300" kern="0" dirty="0">
                <a:solidFill>
                  <a:srgbClr val="E23B54"/>
                </a:solidFill>
                <a:latin typeface="Calibri" pitchFamily="34" charset="0"/>
                <a:ea typeface="Calibri" pitchFamily="34" charset="-122"/>
                <a:cs typeface="Calibri" pitchFamily="34" charset="-120"/>
              </a:rPr>
              <a:t>SEGMENT 2</a:t>
            </a:r>
            <a:endParaRPr lang="en-US" sz="1500" dirty="0"/>
          </a:p>
        </p:txBody>
      </p:sp>
      <p:sp>
        <p:nvSpPr>
          <p:cNvPr id="4" name="Text 2"/>
          <p:cNvSpPr/>
          <p:nvPr/>
        </p:nvSpPr>
        <p:spPr>
          <a:xfrm>
            <a:off x="777240" y="2240280"/>
            <a:ext cx="7498080" cy="1554480"/>
          </a:xfrm>
          <a:prstGeom prst="rect">
            <a:avLst/>
          </a:prstGeom>
          <a:noFill/>
          <a:ln/>
        </p:spPr>
        <p:txBody>
          <a:bodyPr wrap="square" lIns="0" tIns="0" rIns="0" bIns="0" rtlCol="0" anchor="t"/>
          <a:lstStyle/>
          <a:p>
            <a:pPr indent="0" marL="0">
              <a:buNone/>
            </a:pPr>
            <a:r>
              <a:rPr lang="en-US" sz="4000" b="1" dirty="0">
                <a:solidFill>
                  <a:srgbClr val="FFFFFF"/>
                </a:solidFill>
                <a:latin typeface="Georgia" pitchFamily="34" charset="0"/>
                <a:ea typeface="Georgia" pitchFamily="34" charset="-122"/>
                <a:cs typeface="Georgia" pitchFamily="34" charset="-120"/>
              </a:rPr>
              <a:t>Data &amp; Engineering</a:t>
            </a:r>
            <a:endParaRPr lang="en-US" sz="4000" dirty="0"/>
          </a:p>
        </p:txBody>
      </p:sp>
      <p:sp>
        <p:nvSpPr>
          <p:cNvPr id="5" name="Text 3"/>
          <p:cNvSpPr/>
          <p:nvPr/>
        </p:nvSpPr>
        <p:spPr>
          <a:xfrm>
            <a:off x="822960" y="4160520"/>
            <a:ext cx="6400800" cy="82296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Germain Meza</a:t>
            </a:r>
            <a:endParaRPr lang="en-US" sz="1900" dirty="0"/>
          </a:p>
          <a:p>
            <a:pPr indent="0" marL="0">
              <a:buNone/>
            </a:pPr>
            <a:r>
              <a:rPr lang="en-US" sz="1600" dirty="0">
                <a:solidFill>
                  <a:srgbClr val="CADCFC"/>
                </a:solidFill>
                <a:latin typeface="Calibri" pitchFamily="34" charset="0"/>
                <a:ea typeface="Calibri" pitchFamily="34" charset="-122"/>
                <a:cs typeface="Calibri" pitchFamily="34" charset="-120"/>
              </a:rPr>
              <a:t>Data Engineer</a:t>
            </a:r>
            <a:endParaRPr lang="en-US" sz="1900" dirty="0"/>
          </a:p>
        </p:txBody>
      </p:sp>
      <p:sp>
        <p:nvSpPr>
          <p:cNvPr id="6" name="Shape 4"/>
          <p:cNvSpPr/>
          <p:nvPr/>
        </p:nvSpPr>
        <p:spPr>
          <a:xfrm>
            <a:off x="822960" y="5074920"/>
            <a:ext cx="1737360" cy="502920"/>
          </a:xfrm>
          <a:prstGeom prst="roundRect">
            <a:avLst>
              <a:gd name="adj" fmla="val 14545"/>
            </a:avLst>
          </a:prstGeom>
          <a:solidFill>
            <a:srgbClr val="C8102E"/>
          </a:solidFill>
          <a:ln/>
        </p:spPr>
      </p:sp>
      <p:sp>
        <p:nvSpPr>
          <p:cNvPr id="7" name="Text 5"/>
          <p:cNvSpPr/>
          <p:nvPr/>
        </p:nvSpPr>
        <p:spPr>
          <a:xfrm>
            <a:off x="822960" y="5074920"/>
            <a:ext cx="173736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  ~5 min</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100" b="1" spc="200" kern="0" dirty="0">
                <a:solidFill>
                  <a:srgbClr val="2E75B6"/>
                </a:solidFill>
                <a:latin typeface="Calibri" pitchFamily="34" charset="0"/>
                <a:ea typeface="Calibri" pitchFamily="34" charset="-122"/>
                <a:cs typeface="Calibri" pitchFamily="34" charset="-120"/>
              </a:rPr>
              <a:t>DATA SOURCES  ·  GERMAIN</a:t>
            </a:r>
            <a:endParaRPr lang="en-US" sz="1100" dirty="0"/>
          </a:p>
        </p:txBody>
      </p:sp>
      <p:sp>
        <p:nvSpPr>
          <p:cNvPr id="3" name="Text 1"/>
          <p:cNvSpPr/>
          <p:nvPr/>
        </p:nvSpPr>
        <p:spPr>
          <a:xfrm>
            <a:off x="548640" y="566928"/>
            <a:ext cx="11064240" cy="868680"/>
          </a:xfrm>
          <a:prstGeom prst="rect">
            <a:avLst/>
          </a:prstGeom>
          <a:noFill/>
          <a:ln/>
        </p:spPr>
        <p:txBody>
          <a:bodyPr wrap="square" lIns="0" tIns="0" rIns="0" bIns="0" rtlCol="0" anchor="t"/>
          <a:lstStyle/>
          <a:p>
            <a:pPr indent="0" marL="0">
              <a:buNone/>
            </a:pPr>
            <a:r>
              <a:rPr lang="en-US" sz="2900" b="1" dirty="0">
                <a:solidFill>
                  <a:srgbClr val="1F3864"/>
                </a:solidFill>
                <a:latin typeface="Georgia" pitchFamily="34" charset="0"/>
                <a:ea typeface="Georgia" pitchFamily="34" charset="-122"/>
                <a:cs typeface="Georgia" pitchFamily="34" charset="-120"/>
              </a:rPr>
              <a:t>Three sources, all keyed to NBA.com IDs</a:t>
            </a:r>
            <a:endParaRPr lang="en-US" sz="2900" dirty="0"/>
          </a:p>
        </p:txBody>
      </p:sp>
      <p:sp>
        <p:nvSpPr>
          <p:cNvPr id="4" name="Shape 2"/>
          <p:cNvSpPr/>
          <p:nvPr/>
        </p:nvSpPr>
        <p:spPr>
          <a:xfrm>
            <a:off x="548640" y="1783080"/>
            <a:ext cx="7680960" cy="1298448"/>
          </a:xfrm>
          <a:prstGeom prst="rect">
            <a:avLst/>
          </a:prstGeom>
          <a:solidFill>
            <a:srgbClr val="F4F7FB"/>
          </a:solidFill>
          <a:ln w="12700">
            <a:solidFill>
              <a:srgbClr val="DCE6F2"/>
            </a:solidFill>
            <a:prstDash val="solid"/>
          </a:ln>
          <a:effectLst>
            <a:outerShdw sx="100000" sy="100000" kx="0" ky="0" algn="bl" rotWithShape="0" blurRad="76200" dist="25400" dir="8100000">
              <a:srgbClr val="000000">
                <a:alpha val="12000"/>
              </a:srgbClr>
            </a:outerShdw>
          </a:effectLst>
        </p:spPr>
      </p:sp>
      <p:sp>
        <p:nvSpPr>
          <p:cNvPr id="5" name="Shape 3"/>
          <p:cNvSpPr/>
          <p:nvPr/>
        </p:nvSpPr>
        <p:spPr>
          <a:xfrm>
            <a:off x="548640" y="1783080"/>
            <a:ext cx="109728" cy="1298448"/>
          </a:xfrm>
          <a:prstGeom prst="rect">
            <a:avLst/>
          </a:prstGeom>
          <a:solidFill>
            <a:srgbClr val="C8102E"/>
          </a:solidFill>
          <a:ln/>
        </p:spPr>
      </p:sp>
      <p:sp>
        <p:nvSpPr>
          <p:cNvPr id="6" name="Text 4"/>
          <p:cNvSpPr/>
          <p:nvPr/>
        </p:nvSpPr>
        <p:spPr>
          <a:xfrm>
            <a:off x="777240" y="1892808"/>
            <a:ext cx="7315200" cy="457200"/>
          </a:xfrm>
          <a:prstGeom prst="rect">
            <a:avLst/>
          </a:prstGeom>
          <a:noFill/>
          <a:ln/>
        </p:spPr>
        <p:txBody>
          <a:bodyPr wrap="square" lIns="0" tIns="0" rIns="0" bIns="0" rtlCol="0" anchor="ctr"/>
          <a:lstStyle/>
          <a:p>
            <a:pPr indent="0" marL="0">
              <a:buNone/>
            </a:pPr>
            <a:r>
              <a:rPr lang="en-US" sz="1700" b="1" dirty="0">
                <a:solidFill>
                  <a:srgbClr val="1F3864"/>
                </a:solidFill>
                <a:latin typeface="Georgia" pitchFamily="34" charset="0"/>
                <a:ea typeface="Georgia" pitchFamily="34" charset="-122"/>
                <a:cs typeface="Georgia" pitchFamily="34" charset="-120"/>
              </a:rPr>
              <a:t>Primary — NBA Stats API</a:t>
            </a:r>
            <a:endParaRPr lang="en-US" sz="1700" dirty="0"/>
          </a:p>
        </p:txBody>
      </p:sp>
      <p:sp>
        <p:nvSpPr>
          <p:cNvPr id="7" name="Text 5"/>
          <p:cNvSpPr/>
          <p:nvPr/>
        </p:nvSpPr>
        <p:spPr>
          <a:xfrm>
            <a:off x="777240" y="2331720"/>
            <a:ext cx="7315200" cy="685800"/>
          </a:xfrm>
          <a:prstGeom prst="rect">
            <a:avLst/>
          </a:prstGeom>
          <a:noFill/>
          <a:ln/>
        </p:spPr>
        <p:txBody>
          <a:bodyPr wrap="square" lIns="0" tIns="0" rIns="0" bIns="0" rtlCol="0" anchor="t"/>
          <a:lstStyle/>
          <a:p>
            <a:pPr indent="0" marL="0">
              <a:buNone/>
            </a:pPr>
            <a:r>
              <a:rPr lang="en-US" sz="1350" dirty="0">
                <a:solidFill>
                  <a:srgbClr val="222222"/>
                </a:solidFill>
                <a:latin typeface="Calibri" pitchFamily="34" charset="0"/>
                <a:ea typeface="Calibri" pitchFamily="34" charset="-122"/>
                <a:cs typeface="Calibri" pitchFamily="34" charset="-120"/>
              </a:rPr>
              <a:t>Via the open-source nba_api package: shot detail, game logs, players, and teams for every field goal from 2013-14 to today.</a:t>
            </a:r>
            <a:endParaRPr lang="en-US" sz="1350" dirty="0"/>
          </a:p>
        </p:txBody>
      </p:sp>
      <p:sp>
        <p:nvSpPr>
          <p:cNvPr id="8" name="Shape 6"/>
          <p:cNvSpPr/>
          <p:nvPr/>
        </p:nvSpPr>
        <p:spPr>
          <a:xfrm>
            <a:off x="548640" y="3227832"/>
            <a:ext cx="7680960" cy="1298448"/>
          </a:xfrm>
          <a:prstGeom prst="rect">
            <a:avLst/>
          </a:prstGeom>
          <a:solidFill>
            <a:srgbClr val="F4F7FB"/>
          </a:solidFill>
          <a:ln w="12700">
            <a:solidFill>
              <a:srgbClr val="DCE6F2"/>
            </a:solidFill>
            <a:prstDash val="solid"/>
          </a:ln>
          <a:effectLst>
            <a:outerShdw sx="100000" sy="100000" kx="0" ky="0" algn="bl" rotWithShape="0" blurRad="76200" dist="25400" dir="8100000">
              <a:srgbClr val="000000">
                <a:alpha val="12000"/>
              </a:srgbClr>
            </a:outerShdw>
          </a:effectLst>
        </p:spPr>
      </p:sp>
      <p:sp>
        <p:nvSpPr>
          <p:cNvPr id="9" name="Shape 7"/>
          <p:cNvSpPr/>
          <p:nvPr/>
        </p:nvSpPr>
        <p:spPr>
          <a:xfrm>
            <a:off x="548640" y="3227832"/>
            <a:ext cx="109728" cy="1298448"/>
          </a:xfrm>
          <a:prstGeom prst="rect">
            <a:avLst/>
          </a:prstGeom>
          <a:solidFill>
            <a:srgbClr val="2E75B6"/>
          </a:solidFill>
          <a:ln/>
        </p:spPr>
      </p:sp>
      <p:sp>
        <p:nvSpPr>
          <p:cNvPr id="10" name="Text 8"/>
          <p:cNvSpPr/>
          <p:nvPr/>
        </p:nvSpPr>
        <p:spPr>
          <a:xfrm>
            <a:off x="777240" y="3337560"/>
            <a:ext cx="7315200" cy="457200"/>
          </a:xfrm>
          <a:prstGeom prst="rect">
            <a:avLst/>
          </a:prstGeom>
          <a:noFill/>
          <a:ln/>
        </p:spPr>
        <p:txBody>
          <a:bodyPr wrap="square" lIns="0" tIns="0" rIns="0" bIns="0" rtlCol="0" anchor="ctr"/>
          <a:lstStyle/>
          <a:p>
            <a:pPr indent="0" marL="0">
              <a:buNone/>
            </a:pPr>
            <a:r>
              <a:rPr lang="en-US" sz="1700" b="1" dirty="0">
                <a:solidFill>
                  <a:srgbClr val="1F3864"/>
                </a:solidFill>
                <a:latin typeface="Georgia" pitchFamily="34" charset="0"/>
                <a:ea typeface="Georgia" pitchFamily="34" charset="-122"/>
                <a:cs typeface="Georgia" pitchFamily="34" charset="-120"/>
              </a:rPr>
              <a:t>Kaggle — 2014-15 Shot Logs</a:t>
            </a:r>
            <a:endParaRPr lang="en-US" sz="1700" dirty="0"/>
          </a:p>
        </p:txBody>
      </p:sp>
      <p:sp>
        <p:nvSpPr>
          <p:cNvPr id="11" name="Text 9"/>
          <p:cNvSpPr/>
          <p:nvPr/>
        </p:nvSpPr>
        <p:spPr>
          <a:xfrm>
            <a:off x="777240" y="3776472"/>
            <a:ext cx="7315200" cy="685800"/>
          </a:xfrm>
          <a:prstGeom prst="rect">
            <a:avLst/>
          </a:prstGeom>
          <a:noFill/>
          <a:ln/>
        </p:spPr>
        <p:txBody>
          <a:bodyPr wrap="square" lIns="0" tIns="0" rIns="0" bIns="0" rtlCol="0" anchor="t"/>
          <a:lstStyle/>
          <a:p>
            <a:pPr indent="0" marL="0">
              <a:buNone/>
            </a:pPr>
            <a:r>
              <a:rPr lang="en-US" sz="1350" dirty="0">
                <a:solidFill>
                  <a:srgbClr val="222222"/>
                </a:solidFill>
                <a:latin typeface="Calibri" pitchFamily="34" charset="0"/>
                <a:ea typeface="Calibri" pitchFamily="34" charset="-122"/>
                <a:cs typeface="Calibri" pitchFamily="34" charset="-120"/>
              </a:rPr>
              <a:t>~128,000 shots that include the per-shot tracking features (defender distance, shot clock, touch time, dribbles).</a:t>
            </a:r>
            <a:endParaRPr lang="en-US" sz="1350" dirty="0"/>
          </a:p>
        </p:txBody>
      </p:sp>
      <p:sp>
        <p:nvSpPr>
          <p:cNvPr id="12" name="Shape 10"/>
          <p:cNvSpPr/>
          <p:nvPr/>
        </p:nvSpPr>
        <p:spPr>
          <a:xfrm>
            <a:off x="548640" y="4672584"/>
            <a:ext cx="7680960" cy="1298448"/>
          </a:xfrm>
          <a:prstGeom prst="rect">
            <a:avLst/>
          </a:prstGeom>
          <a:solidFill>
            <a:srgbClr val="F4F7FB"/>
          </a:solidFill>
          <a:ln w="12700">
            <a:solidFill>
              <a:srgbClr val="DCE6F2"/>
            </a:solidFill>
            <a:prstDash val="solid"/>
          </a:ln>
          <a:effectLst>
            <a:outerShdw sx="100000" sy="100000" kx="0" ky="0" algn="bl" rotWithShape="0" blurRad="76200" dist="25400" dir="8100000">
              <a:srgbClr val="000000">
                <a:alpha val="12000"/>
              </a:srgbClr>
            </a:outerShdw>
          </a:effectLst>
        </p:spPr>
      </p:sp>
      <p:sp>
        <p:nvSpPr>
          <p:cNvPr id="13" name="Shape 11"/>
          <p:cNvSpPr/>
          <p:nvPr/>
        </p:nvSpPr>
        <p:spPr>
          <a:xfrm>
            <a:off x="548640" y="4672584"/>
            <a:ext cx="109728" cy="1298448"/>
          </a:xfrm>
          <a:prstGeom prst="rect">
            <a:avLst/>
          </a:prstGeom>
          <a:solidFill>
            <a:srgbClr val="2E75B6"/>
          </a:solidFill>
          <a:ln/>
        </p:spPr>
      </p:sp>
      <p:sp>
        <p:nvSpPr>
          <p:cNvPr id="14" name="Text 12"/>
          <p:cNvSpPr/>
          <p:nvPr/>
        </p:nvSpPr>
        <p:spPr>
          <a:xfrm>
            <a:off x="777240" y="4782312"/>
            <a:ext cx="7315200" cy="457200"/>
          </a:xfrm>
          <a:prstGeom prst="rect">
            <a:avLst/>
          </a:prstGeom>
          <a:noFill/>
          <a:ln/>
        </p:spPr>
        <p:txBody>
          <a:bodyPr wrap="square" lIns="0" tIns="0" rIns="0" bIns="0" rtlCol="0" anchor="ctr"/>
          <a:lstStyle/>
          <a:p>
            <a:pPr indent="0" marL="0">
              <a:buNone/>
            </a:pPr>
            <a:r>
              <a:rPr lang="en-US" sz="1700" b="1" dirty="0">
                <a:solidFill>
                  <a:srgbClr val="1F3864"/>
                </a:solidFill>
                <a:latin typeface="Georgia" pitchFamily="34" charset="0"/>
                <a:ea typeface="Georgia" pitchFamily="34" charset="-122"/>
                <a:cs typeface="Georgia" pitchFamily="34" charset="-120"/>
              </a:rPr>
              <a:t>Kaggle — NBA Stats (1947-present)</a:t>
            </a:r>
            <a:endParaRPr lang="en-US" sz="1700" dirty="0"/>
          </a:p>
        </p:txBody>
      </p:sp>
      <p:sp>
        <p:nvSpPr>
          <p:cNvPr id="15" name="Text 13"/>
          <p:cNvSpPr/>
          <p:nvPr/>
        </p:nvSpPr>
        <p:spPr>
          <a:xfrm>
            <a:off x="777240" y="5221224"/>
            <a:ext cx="7315200" cy="685800"/>
          </a:xfrm>
          <a:prstGeom prst="rect">
            <a:avLst/>
          </a:prstGeom>
          <a:noFill/>
          <a:ln/>
        </p:spPr>
        <p:txBody>
          <a:bodyPr wrap="square" lIns="0" tIns="0" rIns="0" bIns="0" rtlCol="0" anchor="t"/>
          <a:lstStyle/>
          <a:p>
            <a:pPr indent="0" marL="0">
              <a:buNone/>
            </a:pPr>
            <a:r>
              <a:rPr lang="en-US" sz="1350" dirty="0">
                <a:solidFill>
                  <a:srgbClr val="222222"/>
                </a:solidFill>
                <a:latin typeface="Calibri" pitchFamily="34" charset="0"/>
                <a:ea typeface="Calibri" pitchFamily="34" charset="-122"/>
                <a:cs typeface="Calibri" pitchFamily="34" charset="-120"/>
              </a:rPr>
              <a:t>Long-horizon player history for context on players whose careers predate the tracking era.</a:t>
            </a:r>
            <a:endParaRPr lang="en-US" sz="1350" dirty="0"/>
          </a:p>
        </p:txBody>
      </p:sp>
      <p:sp>
        <p:nvSpPr>
          <p:cNvPr id="16" name="Shape 14"/>
          <p:cNvSpPr/>
          <p:nvPr/>
        </p:nvSpPr>
        <p:spPr>
          <a:xfrm>
            <a:off x="8503920" y="1783080"/>
            <a:ext cx="3108960" cy="2011680"/>
          </a:xfrm>
          <a:prstGeom prst="rect">
            <a:avLst/>
          </a:prstGeom>
          <a:solidFill>
            <a:srgbClr val="F4F7FB"/>
          </a:solidFill>
          <a:ln w="12700">
            <a:solidFill>
              <a:srgbClr val="DCE6F2"/>
            </a:solidFill>
            <a:prstDash val="solid"/>
          </a:ln>
          <a:effectLst>
            <a:outerShdw sx="100000" sy="100000" kx="0" ky="0" algn="bl" rotWithShape="0" blurRad="76200" dist="25400" dir="8100000">
              <a:srgbClr val="000000">
                <a:alpha val="12000"/>
              </a:srgbClr>
            </a:outerShdw>
          </a:effectLst>
        </p:spPr>
      </p:sp>
      <p:sp>
        <p:nvSpPr>
          <p:cNvPr id="17" name="Text 15"/>
          <p:cNvSpPr/>
          <p:nvPr/>
        </p:nvSpPr>
        <p:spPr>
          <a:xfrm>
            <a:off x="8595360" y="1892808"/>
            <a:ext cx="2926080" cy="885139"/>
          </a:xfrm>
          <a:prstGeom prst="rect">
            <a:avLst/>
          </a:prstGeom>
          <a:noFill/>
          <a:ln/>
        </p:spPr>
        <p:txBody>
          <a:bodyPr wrap="square" lIns="0" tIns="0" rIns="0" bIns="0" rtlCol="0" anchor="ctr"/>
          <a:lstStyle/>
          <a:p>
            <a:pPr algn="ctr" indent="0" marL="0">
              <a:buNone/>
            </a:pPr>
            <a:r>
              <a:rPr lang="en-US" sz="2600" b="1" dirty="0">
                <a:solidFill>
                  <a:srgbClr val="1F3864"/>
                </a:solidFill>
                <a:latin typeface="Georgia" pitchFamily="34" charset="0"/>
                <a:ea typeface="Georgia" pitchFamily="34" charset="-122"/>
                <a:cs typeface="Georgia" pitchFamily="34" charset="-120"/>
              </a:rPr>
              <a:t>ID-based joins</a:t>
            </a:r>
            <a:endParaRPr lang="en-US" sz="2600" dirty="0"/>
          </a:p>
        </p:txBody>
      </p:sp>
      <p:sp>
        <p:nvSpPr>
          <p:cNvPr id="18" name="Text 16"/>
          <p:cNvSpPr/>
          <p:nvPr/>
        </p:nvSpPr>
        <p:spPr>
          <a:xfrm>
            <a:off x="8613648" y="2788920"/>
            <a:ext cx="2889504" cy="925373"/>
          </a:xfrm>
          <a:prstGeom prst="rect">
            <a:avLst/>
          </a:prstGeom>
          <a:noFill/>
          <a:ln/>
        </p:spPr>
        <p:txBody>
          <a:bodyPr wrap="square" lIns="0" tIns="0" rIns="0" bIns="0" rtlCol="0" anchor="t"/>
          <a:lstStyle/>
          <a:p>
            <a:pPr algn="ctr" indent="0" marL="0">
              <a:buNone/>
            </a:pPr>
            <a:r>
              <a:rPr lang="en-US" sz="1200" dirty="0">
                <a:solidFill>
                  <a:srgbClr val="222222"/>
                </a:solidFill>
                <a:latin typeface="Calibri" pitchFamily="34" charset="0"/>
                <a:ea typeface="Calibri" pitchFamily="34" charset="-122"/>
                <a:cs typeface="Calibri" pitchFamily="34" charset="-120"/>
              </a:rPr>
              <a:t>player_id · team_id · game_id — reliable and reproducible, never name-matched</a:t>
            </a:r>
            <a:endParaRPr lang="en-US" sz="1200" dirty="0"/>
          </a:p>
        </p:txBody>
      </p:sp>
      <p:sp>
        <p:nvSpPr>
          <p:cNvPr id="19" name="Shape 17"/>
          <p:cNvSpPr/>
          <p:nvPr/>
        </p:nvSpPr>
        <p:spPr>
          <a:xfrm>
            <a:off x="8503920" y="3977640"/>
            <a:ext cx="3108960" cy="2011680"/>
          </a:xfrm>
          <a:prstGeom prst="rect">
            <a:avLst/>
          </a:prstGeom>
          <a:solidFill>
            <a:srgbClr val="F4F7FB"/>
          </a:solidFill>
          <a:ln w="12700">
            <a:solidFill>
              <a:srgbClr val="DCE6F2"/>
            </a:solidFill>
            <a:prstDash val="solid"/>
          </a:ln>
          <a:effectLst>
            <a:outerShdw sx="100000" sy="100000" kx="0" ky="0" algn="bl" rotWithShape="0" blurRad="76200" dist="25400" dir="8100000">
              <a:srgbClr val="000000">
                <a:alpha val="12000"/>
              </a:srgbClr>
            </a:outerShdw>
          </a:effectLst>
        </p:spPr>
      </p:sp>
      <p:sp>
        <p:nvSpPr>
          <p:cNvPr id="20" name="Text 18"/>
          <p:cNvSpPr/>
          <p:nvPr/>
        </p:nvSpPr>
        <p:spPr>
          <a:xfrm>
            <a:off x="8595360" y="4087368"/>
            <a:ext cx="2926080" cy="885139"/>
          </a:xfrm>
          <a:prstGeom prst="rect">
            <a:avLst/>
          </a:prstGeom>
          <a:noFill/>
          <a:ln/>
        </p:spPr>
        <p:txBody>
          <a:bodyPr wrap="square" lIns="0" tIns="0" rIns="0" bIns="0" rtlCol="0" anchor="ctr"/>
          <a:lstStyle/>
          <a:p>
            <a:pPr algn="ctr" indent="0" marL="0">
              <a:buNone/>
            </a:pPr>
            <a:r>
              <a:rPr lang="en-US" sz="2600" b="1" dirty="0">
                <a:solidFill>
                  <a:srgbClr val="2E75B6"/>
                </a:solidFill>
                <a:latin typeface="Georgia" pitchFamily="34" charset="0"/>
                <a:ea typeface="Georgia" pitchFamily="34" charset="-122"/>
                <a:cs typeface="Georgia" pitchFamily="34" charset="-120"/>
              </a:rPr>
              <a:t>1 enriched table</a:t>
            </a:r>
            <a:endParaRPr lang="en-US" sz="2600" dirty="0"/>
          </a:p>
        </p:txBody>
      </p:sp>
      <p:sp>
        <p:nvSpPr>
          <p:cNvPr id="21" name="Text 19"/>
          <p:cNvSpPr/>
          <p:nvPr/>
        </p:nvSpPr>
        <p:spPr>
          <a:xfrm>
            <a:off x="8613648" y="4983480"/>
            <a:ext cx="2889504" cy="925373"/>
          </a:xfrm>
          <a:prstGeom prst="rect">
            <a:avLst/>
          </a:prstGeom>
          <a:noFill/>
          <a:ln/>
        </p:spPr>
        <p:txBody>
          <a:bodyPr wrap="square" lIns="0" tIns="0" rIns="0" bIns="0" rtlCol="0" anchor="t"/>
          <a:lstStyle/>
          <a:p>
            <a:pPr algn="ctr" indent="0" marL="0">
              <a:buNone/>
            </a:pPr>
            <a:r>
              <a:rPr lang="en-US" sz="1200" dirty="0">
                <a:solidFill>
                  <a:srgbClr val="222222"/>
                </a:solidFill>
                <a:latin typeface="Calibri" pitchFamily="34" charset="0"/>
                <a:ea typeface="Calibri" pitchFamily="34" charset="-122"/>
                <a:cs typeface="Calibri" pitchFamily="34" charset="-120"/>
              </a:rPr>
              <a:t>every row = one shot, carrying its game, shooter, and team context</a:t>
            </a:r>
            <a:endParaRPr lang="en-US" sz="1200" dirty="0"/>
          </a:p>
        </p:txBody>
      </p:sp>
      <p:sp>
        <p:nvSpPr>
          <p:cNvPr id="22" name="Text 20"/>
          <p:cNvSpPr/>
          <p:nvPr/>
        </p:nvSpPr>
        <p:spPr>
          <a:xfrm>
            <a:off x="548640" y="6510528"/>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NBA Shot Quality Capstone — DAT 490 (Summer A 2026)</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100" b="1" spc="200" kern="0" dirty="0">
                <a:solidFill>
                  <a:srgbClr val="2E75B6"/>
                </a:solidFill>
                <a:latin typeface="Calibri" pitchFamily="34" charset="0"/>
                <a:ea typeface="Calibri" pitchFamily="34" charset="-122"/>
                <a:cs typeface="Calibri" pitchFamily="34" charset="-120"/>
              </a:rPr>
              <a:t>PIPELINE &amp; SCALE  ·  GERMAIN</a:t>
            </a:r>
            <a:endParaRPr lang="en-US" sz="1100" dirty="0"/>
          </a:p>
        </p:txBody>
      </p:sp>
      <p:sp>
        <p:nvSpPr>
          <p:cNvPr id="3" name="Text 1"/>
          <p:cNvSpPr/>
          <p:nvPr/>
        </p:nvSpPr>
        <p:spPr>
          <a:xfrm>
            <a:off x="548640" y="566928"/>
            <a:ext cx="11064240" cy="868680"/>
          </a:xfrm>
          <a:prstGeom prst="rect">
            <a:avLst/>
          </a:prstGeom>
          <a:noFill/>
          <a:ln/>
        </p:spPr>
        <p:txBody>
          <a:bodyPr wrap="square" lIns="0" tIns="0" rIns="0" bIns="0" rtlCol="0" anchor="t"/>
          <a:lstStyle/>
          <a:p>
            <a:pPr indent="0" marL="0">
              <a:buNone/>
            </a:pPr>
            <a:r>
              <a:rPr lang="en-US" sz="2900" b="1" dirty="0">
                <a:solidFill>
                  <a:srgbClr val="1F3864"/>
                </a:solidFill>
                <a:latin typeface="Georgia" pitchFamily="34" charset="0"/>
                <a:ea typeface="Georgia" pitchFamily="34" charset="-122"/>
                <a:cs typeface="Georgia" pitchFamily="34" charset="-120"/>
              </a:rPr>
              <a:t>2.9M shots, 13 seasons — built to not break</a:t>
            </a:r>
            <a:endParaRPr lang="en-US" sz="2900" dirty="0"/>
          </a:p>
        </p:txBody>
      </p:sp>
      <p:sp>
        <p:nvSpPr>
          <p:cNvPr id="4" name="Shape 2"/>
          <p:cNvSpPr/>
          <p:nvPr/>
        </p:nvSpPr>
        <p:spPr>
          <a:xfrm>
            <a:off x="548640" y="1691640"/>
            <a:ext cx="2606040" cy="1051560"/>
          </a:xfrm>
          <a:prstGeom prst="rect">
            <a:avLst/>
          </a:prstGeom>
          <a:solidFill>
            <a:srgbClr val="F4F7FB"/>
          </a:solidFill>
          <a:ln w="12700">
            <a:solidFill>
              <a:srgbClr val="DCE6F2"/>
            </a:solidFill>
            <a:prstDash val="solid"/>
          </a:ln>
          <a:effectLst>
            <a:outerShdw sx="100000" sy="100000" kx="0" ky="0" algn="bl" rotWithShape="0" blurRad="76200" dist="25400" dir="8100000">
              <a:srgbClr val="000000">
                <a:alpha val="12000"/>
              </a:srgbClr>
            </a:outerShdw>
          </a:effectLst>
        </p:spPr>
      </p:sp>
      <p:sp>
        <p:nvSpPr>
          <p:cNvPr id="5" name="Text 3"/>
          <p:cNvSpPr/>
          <p:nvPr/>
        </p:nvSpPr>
        <p:spPr>
          <a:xfrm>
            <a:off x="548640" y="1691640"/>
            <a:ext cx="2606040" cy="1051560"/>
          </a:xfrm>
          <a:prstGeom prst="rect">
            <a:avLst/>
          </a:prstGeom>
          <a:noFill/>
          <a:ln/>
        </p:spPr>
        <p:txBody>
          <a:bodyPr wrap="square" lIns="0" tIns="0" rIns="0" bIns="0" rtlCol="0" anchor="ctr"/>
          <a:lstStyle/>
          <a:p>
            <a:pPr algn="ctr" indent="0" marL="0">
              <a:buNone/>
            </a:pPr>
            <a:r>
              <a:rPr lang="en-US" sz="1400" b="1" dirty="0">
                <a:solidFill>
                  <a:srgbClr val="1F3864"/>
                </a:solidFill>
                <a:latin typeface="Calibri" pitchFamily="34" charset="0"/>
                <a:ea typeface="Calibri" pitchFamily="34" charset="-122"/>
                <a:cs typeface="Calibri" pitchFamily="34" charset="-120"/>
              </a:rPr>
              <a:t>Pull</a:t>
            </a:r>
            <a:endParaRPr lang="en-US" sz="1400" dirty="0"/>
          </a:p>
          <a:p>
            <a:pPr algn="ctr" indent="0" marL="0">
              <a:buNone/>
            </a:pPr>
            <a:r>
              <a:rPr lang="en-US" sz="1400" b="1" dirty="0">
                <a:solidFill>
                  <a:srgbClr val="1F3864"/>
                </a:solidFill>
                <a:latin typeface="Calibri" pitchFamily="34" charset="0"/>
                <a:ea typeface="Calibri" pitchFamily="34" charset="-122"/>
                <a:cs typeface="Calibri" pitchFamily="34" charset="-120"/>
              </a:rPr>
              <a:t>(NBA API + Kaggle)</a:t>
            </a:r>
            <a:endParaRPr lang="en-US" sz="1400" dirty="0"/>
          </a:p>
        </p:txBody>
      </p:sp>
      <p:sp>
        <p:nvSpPr>
          <p:cNvPr id="6" name="Text 4"/>
          <p:cNvSpPr/>
          <p:nvPr/>
        </p:nvSpPr>
        <p:spPr>
          <a:xfrm>
            <a:off x="3154680" y="1691640"/>
            <a:ext cx="283464" cy="1051560"/>
          </a:xfrm>
          <a:prstGeom prst="rect">
            <a:avLst/>
          </a:prstGeom>
          <a:noFill/>
          <a:ln/>
        </p:spPr>
        <p:txBody>
          <a:bodyPr wrap="square" lIns="0" tIns="0" rIns="0" bIns="0" rtlCol="0" anchor="ctr"/>
          <a:lstStyle/>
          <a:p>
            <a:pPr algn="ctr" indent="0" marL="0">
              <a:buNone/>
            </a:pPr>
            <a:r>
              <a:rPr lang="en-US" sz="2000" b="1" dirty="0">
                <a:solidFill>
                  <a:srgbClr val="6B7280"/>
                </a:solidFill>
                <a:latin typeface="Calibri" pitchFamily="34" charset="0"/>
                <a:ea typeface="Calibri" pitchFamily="34" charset="-122"/>
                <a:cs typeface="Calibri" pitchFamily="34" charset="-120"/>
              </a:rPr>
              <a:t>→</a:t>
            </a:r>
            <a:endParaRPr lang="en-US" sz="2000" dirty="0"/>
          </a:p>
        </p:txBody>
      </p:sp>
      <p:sp>
        <p:nvSpPr>
          <p:cNvPr id="7" name="Shape 5"/>
          <p:cNvSpPr/>
          <p:nvPr/>
        </p:nvSpPr>
        <p:spPr>
          <a:xfrm>
            <a:off x="3438144" y="1691640"/>
            <a:ext cx="2606040" cy="1051560"/>
          </a:xfrm>
          <a:prstGeom prst="rect">
            <a:avLst/>
          </a:prstGeom>
          <a:solidFill>
            <a:srgbClr val="F4F7FB"/>
          </a:solidFill>
          <a:ln w="12700">
            <a:solidFill>
              <a:srgbClr val="DCE6F2"/>
            </a:solidFill>
            <a:prstDash val="solid"/>
          </a:ln>
          <a:effectLst>
            <a:outerShdw sx="100000" sy="100000" kx="0" ky="0" algn="bl" rotWithShape="0" blurRad="76200" dist="25400" dir="8100000">
              <a:srgbClr val="000000">
                <a:alpha val="12000"/>
              </a:srgbClr>
            </a:outerShdw>
          </a:effectLst>
        </p:spPr>
      </p:sp>
      <p:sp>
        <p:nvSpPr>
          <p:cNvPr id="8" name="Text 6"/>
          <p:cNvSpPr/>
          <p:nvPr/>
        </p:nvSpPr>
        <p:spPr>
          <a:xfrm>
            <a:off x="3438144" y="1691640"/>
            <a:ext cx="2606040" cy="1051560"/>
          </a:xfrm>
          <a:prstGeom prst="rect">
            <a:avLst/>
          </a:prstGeom>
          <a:noFill/>
          <a:ln/>
        </p:spPr>
        <p:txBody>
          <a:bodyPr wrap="square" lIns="0" tIns="0" rIns="0" bIns="0" rtlCol="0" anchor="ctr"/>
          <a:lstStyle/>
          <a:p>
            <a:pPr algn="ctr" indent="0" marL="0">
              <a:buNone/>
            </a:pPr>
            <a:r>
              <a:rPr lang="en-US" sz="1400" b="1" dirty="0">
                <a:solidFill>
                  <a:srgbClr val="1F3864"/>
                </a:solidFill>
                <a:latin typeface="Calibri" pitchFamily="34" charset="0"/>
                <a:ea typeface="Calibri" pitchFamily="34" charset="-122"/>
                <a:cs typeface="Calibri" pitchFamily="34" charset="-120"/>
              </a:rPr>
              <a:t>Clean</a:t>
            </a:r>
            <a:endParaRPr lang="en-US" sz="1400" dirty="0"/>
          </a:p>
          <a:p>
            <a:pPr algn="ctr" indent="0" marL="0">
              <a:buNone/>
            </a:pPr>
            <a:r>
              <a:rPr lang="en-US" sz="1400" b="1" dirty="0">
                <a:solidFill>
                  <a:srgbClr val="1F3864"/>
                </a:solidFill>
                <a:latin typeface="Calibri" pitchFamily="34" charset="0"/>
                <a:ea typeface="Calibri" pitchFamily="34" charset="-122"/>
                <a:cs typeface="Calibri" pitchFamily="34" charset="-120"/>
              </a:rPr>
              <a:t>(per-table)</a:t>
            </a:r>
            <a:endParaRPr lang="en-US" sz="1400" dirty="0"/>
          </a:p>
        </p:txBody>
      </p:sp>
      <p:sp>
        <p:nvSpPr>
          <p:cNvPr id="9" name="Text 7"/>
          <p:cNvSpPr/>
          <p:nvPr/>
        </p:nvSpPr>
        <p:spPr>
          <a:xfrm>
            <a:off x="6044184" y="1691640"/>
            <a:ext cx="283464" cy="1051560"/>
          </a:xfrm>
          <a:prstGeom prst="rect">
            <a:avLst/>
          </a:prstGeom>
          <a:noFill/>
          <a:ln/>
        </p:spPr>
        <p:txBody>
          <a:bodyPr wrap="square" lIns="0" tIns="0" rIns="0" bIns="0" rtlCol="0" anchor="ctr"/>
          <a:lstStyle/>
          <a:p>
            <a:pPr algn="ctr" indent="0" marL="0">
              <a:buNone/>
            </a:pPr>
            <a:r>
              <a:rPr lang="en-US" sz="2000" b="1" dirty="0">
                <a:solidFill>
                  <a:srgbClr val="6B7280"/>
                </a:solidFill>
                <a:latin typeface="Calibri" pitchFamily="34" charset="0"/>
                <a:ea typeface="Calibri" pitchFamily="34" charset="-122"/>
                <a:cs typeface="Calibri" pitchFamily="34" charset="-120"/>
              </a:rPr>
              <a:t>→</a:t>
            </a:r>
            <a:endParaRPr lang="en-US" sz="2000" dirty="0"/>
          </a:p>
        </p:txBody>
      </p:sp>
      <p:sp>
        <p:nvSpPr>
          <p:cNvPr id="10" name="Shape 8"/>
          <p:cNvSpPr/>
          <p:nvPr/>
        </p:nvSpPr>
        <p:spPr>
          <a:xfrm>
            <a:off x="6327648" y="1691640"/>
            <a:ext cx="2606040" cy="1051560"/>
          </a:xfrm>
          <a:prstGeom prst="rect">
            <a:avLst/>
          </a:prstGeom>
          <a:solidFill>
            <a:srgbClr val="F4F7FB"/>
          </a:solidFill>
          <a:ln w="12700">
            <a:solidFill>
              <a:srgbClr val="DCE6F2"/>
            </a:solidFill>
            <a:prstDash val="solid"/>
          </a:ln>
          <a:effectLst>
            <a:outerShdw sx="100000" sy="100000" kx="0" ky="0" algn="bl" rotWithShape="0" blurRad="76200" dist="25400" dir="8100000">
              <a:srgbClr val="000000">
                <a:alpha val="12000"/>
              </a:srgbClr>
            </a:outerShdw>
          </a:effectLst>
        </p:spPr>
      </p:sp>
      <p:sp>
        <p:nvSpPr>
          <p:cNvPr id="11" name="Text 9"/>
          <p:cNvSpPr/>
          <p:nvPr/>
        </p:nvSpPr>
        <p:spPr>
          <a:xfrm>
            <a:off x="6327648" y="1691640"/>
            <a:ext cx="2606040" cy="1051560"/>
          </a:xfrm>
          <a:prstGeom prst="rect">
            <a:avLst/>
          </a:prstGeom>
          <a:noFill/>
          <a:ln/>
        </p:spPr>
        <p:txBody>
          <a:bodyPr wrap="square" lIns="0" tIns="0" rIns="0" bIns="0" rtlCol="0" anchor="ctr"/>
          <a:lstStyle/>
          <a:p>
            <a:pPr algn="ctr" indent="0" marL="0">
              <a:buNone/>
            </a:pPr>
            <a:r>
              <a:rPr lang="en-US" sz="1400" b="1" dirty="0">
                <a:solidFill>
                  <a:srgbClr val="1F3864"/>
                </a:solidFill>
                <a:latin typeface="Calibri" pitchFamily="34" charset="0"/>
                <a:ea typeface="Calibri" pitchFamily="34" charset="-122"/>
                <a:cs typeface="Calibri" pitchFamily="34" charset="-120"/>
              </a:rPr>
              <a:t>Enrich</a:t>
            </a:r>
            <a:endParaRPr lang="en-US" sz="1400" dirty="0"/>
          </a:p>
          <a:p>
            <a:pPr algn="ctr" indent="0" marL="0">
              <a:buNone/>
            </a:pPr>
            <a:r>
              <a:rPr lang="en-US" sz="1400" b="1" dirty="0">
                <a:solidFill>
                  <a:srgbClr val="1F3864"/>
                </a:solidFill>
                <a:latin typeface="Calibri" pitchFamily="34" charset="0"/>
                <a:ea typeface="Calibri" pitchFamily="34" charset="-122"/>
                <a:cs typeface="Calibri" pitchFamily="34" charset="-120"/>
              </a:rPr>
              <a:t>(one shot-level table)</a:t>
            </a:r>
            <a:endParaRPr lang="en-US" sz="1400" dirty="0"/>
          </a:p>
        </p:txBody>
      </p:sp>
      <p:sp>
        <p:nvSpPr>
          <p:cNvPr id="12" name="Text 10"/>
          <p:cNvSpPr/>
          <p:nvPr/>
        </p:nvSpPr>
        <p:spPr>
          <a:xfrm>
            <a:off x="8933688" y="1691640"/>
            <a:ext cx="283464" cy="1051560"/>
          </a:xfrm>
          <a:prstGeom prst="rect">
            <a:avLst/>
          </a:prstGeom>
          <a:noFill/>
          <a:ln/>
        </p:spPr>
        <p:txBody>
          <a:bodyPr wrap="square" lIns="0" tIns="0" rIns="0" bIns="0" rtlCol="0" anchor="ctr"/>
          <a:lstStyle/>
          <a:p>
            <a:pPr algn="ctr" indent="0" marL="0">
              <a:buNone/>
            </a:pPr>
            <a:r>
              <a:rPr lang="en-US" sz="2000" b="1" dirty="0">
                <a:solidFill>
                  <a:srgbClr val="6B7280"/>
                </a:solidFill>
                <a:latin typeface="Calibri" pitchFamily="34" charset="0"/>
                <a:ea typeface="Calibri" pitchFamily="34" charset="-122"/>
                <a:cs typeface="Calibri" pitchFamily="34" charset="-120"/>
              </a:rPr>
              <a:t>→</a:t>
            </a:r>
            <a:endParaRPr lang="en-US" sz="2000" dirty="0"/>
          </a:p>
        </p:txBody>
      </p:sp>
      <p:sp>
        <p:nvSpPr>
          <p:cNvPr id="13" name="Shape 11"/>
          <p:cNvSpPr/>
          <p:nvPr/>
        </p:nvSpPr>
        <p:spPr>
          <a:xfrm>
            <a:off x="9217152" y="1691640"/>
            <a:ext cx="2606040" cy="1051560"/>
          </a:xfrm>
          <a:prstGeom prst="rect">
            <a:avLst/>
          </a:prstGeom>
          <a:solidFill>
            <a:srgbClr val="1F3864"/>
          </a:solidFill>
          <a:ln w="12700">
            <a:solidFill>
              <a:srgbClr val="DCE6F2"/>
            </a:solidFill>
            <a:prstDash val="solid"/>
          </a:ln>
          <a:effectLst>
            <a:outerShdw sx="100000" sy="100000" kx="0" ky="0" algn="bl" rotWithShape="0" blurRad="76200" dist="25400" dir="8100000">
              <a:srgbClr val="000000">
                <a:alpha val="12000"/>
              </a:srgbClr>
            </a:outerShdw>
          </a:effectLst>
        </p:spPr>
      </p:sp>
      <p:sp>
        <p:nvSpPr>
          <p:cNvPr id="14" name="Text 12"/>
          <p:cNvSpPr/>
          <p:nvPr/>
        </p:nvSpPr>
        <p:spPr>
          <a:xfrm>
            <a:off x="9217152" y="1691640"/>
            <a:ext cx="2606040" cy="10515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Model-ready</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(Parquet)</a:t>
            </a:r>
            <a:endParaRPr lang="en-US" sz="1400" dirty="0"/>
          </a:p>
        </p:txBody>
      </p:sp>
      <p:sp>
        <p:nvSpPr>
          <p:cNvPr id="15" name="Text 13"/>
          <p:cNvSpPr/>
          <p:nvPr/>
        </p:nvSpPr>
        <p:spPr>
          <a:xfrm>
            <a:off x="548640" y="3063240"/>
            <a:ext cx="11064240" cy="3108960"/>
          </a:xfrm>
          <a:prstGeom prst="rect">
            <a:avLst/>
          </a:prstGeom>
          <a:noFill/>
          <a:ln/>
        </p:spPr>
        <p:txBody>
          <a:bodyPr wrap="square" lIns="0" tIns="0" rIns="0" bIns="0" rtlCol="0" anchor="t"/>
          <a:lstStyle/>
          <a:p>
            <a:pPr marL="177800" indent="-177800">
              <a:spcAft>
                <a:spcPts val="1000"/>
              </a:spcAft>
              <a:buSzPct val="100000"/>
              <a:buChar char="•"/>
            </a:pPr>
            <a:r>
              <a:rPr lang="en-US" sz="1500" dirty="0">
                <a:solidFill>
                  <a:srgbClr val="222222"/>
                </a:solidFill>
                <a:latin typeface="Calibri" pitchFamily="34" charset="0"/>
                <a:ea typeface="Calibri" pitchFamily="34" charset="-122"/>
                <a:cs typeface="Calibri" pitchFamily="34" charset="-120"/>
              </a:rPr>
              <a:t>~2.9 million shot records across 13 seasons — stored as Parquet, so raw volume was never the bottleneck.</a:t>
            </a:r>
            <a:endParaRPr lang="en-US" sz="1500" dirty="0"/>
          </a:p>
          <a:p>
            <a:pPr marL="177800" indent="-177800">
              <a:spcAft>
                <a:spcPts val="400"/>
              </a:spcAft>
              <a:buSzPct val="100000"/>
              <a:buChar char="•"/>
            </a:pPr>
            <a:r>
              <a:rPr lang="en-US" sz="1500" b="1" dirty="0">
                <a:solidFill>
                  <a:srgbClr val="1F3864"/>
                </a:solidFill>
                <a:latin typeface="Calibri" pitchFamily="34" charset="0"/>
                <a:ea typeface="Calibri" pitchFamily="34" charset="-122"/>
                <a:cs typeface="Calibri" pitchFamily="34" charset="-120"/>
              </a:rPr>
              <a:t>The join trap: the NBA API stores games at the team-game level — each game appears twice, once per team.</a:t>
            </a:r>
            <a:endParaRPr lang="en-US" sz="1500" dirty="0"/>
          </a:p>
          <a:p>
            <a:pPr marL="177800" indent="-1778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Joining on game alone would have silently doubled our shots, so we joined on game + team + season together.</a:t>
            </a:r>
            <a:endParaRPr lang="en-US" sz="1500" dirty="0"/>
          </a:p>
          <a:p>
            <a:pPr marL="177800" indent="-1778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We ran row-count checks before and after every merge to confirm nothing duplicated or dropped.</a:t>
            </a:r>
            <a:endParaRPr lang="en-US" sz="1500" dirty="0"/>
          </a:p>
        </p:txBody>
      </p:sp>
      <p:sp>
        <p:nvSpPr>
          <p:cNvPr id="16" name="Text 14"/>
          <p:cNvSpPr/>
          <p:nvPr/>
        </p:nvSpPr>
        <p:spPr>
          <a:xfrm>
            <a:off x="548640" y="6510528"/>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NBA Shot Quality Capstone — DAT 490 (Summer A 2026)</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100" b="1" spc="200" kern="0" dirty="0">
                <a:solidFill>
                  <a:srgbClr val="2E75B6"/>
                </a:solidFill>
                <a:latin typeface="Calibri" pitchFamily="34" charset="0"/>
                <a:ea typeface="Calibri" pitchFamily="34" charset="-122"/>
                <a:cs typeface="Calibri" pitchFamily="34" charset="-120"/>
              </a:rPr>
              <a:t>DATA QUALITY &amp; THE KEY CONSTRAINT  ·  GERMAIN</a:t>
            </a:r>
            <a:endParaRPr lang="en-US" sz="1100" dirty="0"/>
          </a:p>
        </p:txBody>
      </p:sp>
      <p:sp>
        <p:nvSpPr>
          <p:cNvPr id="3" name="Text 1"/>
          <p:cNvSpPr/>
          <p:nvPr/>
        </p:nvSpPr>
        <p:spPr>
          <a:xfrm>
            <a:off x="548640" y="566928"/>
            <a:ext cx="11064240" cy="868680"/>
          </a:xfrm>
          <a:prstGeom prst="rect">
            <a:avLst/>
          </a:prstGeom>
          <a:noFill/>
          <a:ln/>
        </p:spPr>
        <p:txBody>
          <a:bodyPr wrap="square" lIns="0" tIns="0" rIns="0" bIns="0" rtlCol="0" anchor="t"/>
          <a:lstStyle/>
          <a:p>
            <a:pPr indent="0" marL="0">
              <a:buNone/>
            </a:pPr>
            <a:r>
              <a:rPr lang="en-US" sz="2900" b="1" dirty="0">
                <a:solidFill>
                  <a:srgbClr val="1F3864"/>
                </a:solidFill>
                <a:latin typeface="Georgia" pitchFamily="34" charset="0"/>
                <a:ea typeface="Georgia" pitchFamily="34" charset="-122"/>
                <a:cs typeface="Georgia" pitchFamily="34" charset="-120"/>
              </a:rPr>
              <a:t>Clean data — but tracking detail exists for one season</a:t>
            </a:r>
            <a:endParaRPr lang="en-US" sz="2900" dirty="0"/>
          </a:p>
        </p:txBody>
      </p:sp>
      <p:sp>
        <p:nvSpPr>
          <p:cNvPr id="4" name="Text 2"/>
          <p:cNvSpPr/>
          <p:nvPr/>
        </p:nvSpPr>
        <p:spPr>
          <a:xfrm>
            <a:off x="548640" y="1645920"/>
            <a:ext cx="6400800" cy="2011680"/>
          </a:xfrm>
          <a:prstGeom prst="rect">
            <a:avLst/>
          </a:prstGeom>
          <a:noFill/>
          <a:ln/>
        </p:spPr>
        <p:txBody>
          <a:bodyPr wrap="square" lIns="0" tIns="0" rIns="0" bIns="0" rtlCol="0" anchor="t"/>
          <a:lstStyle/>
          <a:p>
            <a:pPr marL="177800" indent="-177800">
              <a:spcAft>
                <a:spcPts val="400"/>
              </a:spcAft>
              <a:buSzPct val="100000"/>
              <a:buChar char="•"/>
            </a:pPr>
            <a:r>
              <a:rPr lang="en-US" sz="1500" b="1" dirty="0">
                <a:solidFill>
                  <a:srgbClr val="1F3864"/>
                </a:solidFill>
                <a:latin typeface="Calibri" pitchFamily="34" charset="0"/>
                <a:ea typeface="Calibri" pitchFamily="34" charset="-122"/>
                <a:cs typeface="Calibri" pitchFamily="34" charset="-120"/>
              </a:rPr>
              <a:t>Good news: the data was clean and well organized.</a:t>
            </a:r>
            <a:endParaRPr lang="en-US" sz="1500" dirty="0"/>
          </a:p>
          <a:p>
            <a:pPr marL="177800" indent="-1778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Rows missing critical location fields were a tiny fraction — dropped with minimal impact; dates standardized.</a:t>
            </a:r>
            <a:endParaRPr lang="en-US" sz="1500" dirty="0"/>
          </a:p>
          <a:p>
            <a:pPr marL="177800" indent="-1778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So we didn't spend the project fighting messy data — we spent it on the analysis.</a:t>
            </a:r>
            <a:endParaRPr lang="en-US" sz="1500" dirty="0"/>
          </a:p>
        </p:txBody>
      </p:sp>
      <p:sp>
        <p:nvSpPr>
          <p:cNvPr id="5" name="Shape 3"/>
          <p:cNvSpPr/>
          <p:nvPr/>
        </p:nvSpPr>
        <p:spPr>
          <a:xfrm>
            <a:off x="548640" y="3794760"/>
            <a:ext cx="11091672" cy="2286000"/>
          </a:xfrm>
          <a:prstGeom prst="rect">
            <a:avLst/>
          </a:prstGeom>
          <a:solidFill>
            <a:srgbClr val="FBEAEC"/>
          </a:solidFill>
          <a:ln w="19050">
            <a:solidFill>
              <a:srgbClr val="C8102E"/>
            </a:solidFill>
            <a:prstDash val="solid"/>
          </a:ln>
          <a:effectLst>
            <a:outerShdw sx="100000" sy="100000" kx="0" ky="0" algn="bl" rotWithShape="0" blurRad="76200" dist="25400" dir="8100000">
              <a:srgbClr val="000000">
                <a:alpha val="12000"/>
              </a:srgbClr>
            </a:outerShdw>
          </a:effectLst>
        </p:spPr>
      </p:sp>
      <p:sp>
        <p:nvSpPr>
          <p:cNvPr id="6" name="Shape 4"/>
          <p:cNvSpPr/>
          <p:nvPr/>
        </p:nvSpPr>
        <p:spPr>
          <a:xfrm>
            <a:off x="548640" y="3794760"/>
            <a:ext cx="128016" cy="2286000"/>
          </a:xfrm>
          <a:prstGeom prst="rect">
            <a:avLst/>
          </a:prstGeom>
          <a:solidFill>
            <a:srgbClr val="C8102E"/>
          </a:solidFill>
          <a:ln/>
        </p:spPr>
      </p:sp>
      <p:sp>
        <p:nvSpPr>
          <p:cNvPr id="7" name="Text 5"/>
          <p:cNvSpPr/>
          <p:nvPr/>
        </p:nvSpPr>
        <p:spPr>
          <a:xfrm>
            <a:off x="868680" y="3950208"/>
            <a:ext cx="10424160" cy="457200"/>
          </a:xfrm>
          <a:prstGeom prst="rect">
            <a:avLst/>
          </a:prstGeom>
          <a:noFill/>
          <a:ln/>
        </p:spPr>
        <p:txBody>
          <a:bodyPr wrap="square" lIns="0" tIns="0" rIns="0" bIns="0" rtlCol="0" anchor="ctr"/>
          <a:lstStyle/>
          <a:p>
            <a:pPr indent="0" marL="0">
              <a:buNone/>
            </a:pPr>
            <a:r>
              <a:rPr lang="en-US" sz="1900" b="1" dirty="0">
                <a:solidFill>
                  <a:srgbClr val="C8102E"/>
                </a:solidFill>
                <a:latin typeface="Georgia" pitchFamily="34" charset="0"/>
                <a:ea typeface="Georgia" pitchFamily="34" charset="-122"/>
                <a:cs typeface="Georgia" pitchFamily="34" charset="-120"/>
              </a:rPr>
              <a:t>The constraint that shaped everything</a:t>
            </a:r>
            <a:endParaRPr lang="en-US" sz="1900" dirty="0"/>
          </a:p>
        </p:txBody>
      </p:sp>
      <p:sp>
        <p:nvSpPr>
          <p:cNvPr id="8" name="Text 6"/>
          <p:cNvSpPr/>
          <p:nvPr/>
        </p:nvSpPr>
        <p:spPr>
          <a:xfrm>
            <a:off x="868680" y="4434840"/>
            <a:ext cx="10424160" cy="1554480"/>
          </a:xfrm>
          <a:prstGeom prst="rect">
            <a:avLst/>
          </a:prstGeom>
          <a:noFill/>
          <a:ln/>
        </p:spPr>
        <p:txBody>
          <a:bodyPr wrap="square" lIns="0" tIns="0" rIns="0" bIns="0" rtlCol="0" anchor="t"/>
          <a:lstStyle/>
          <a:p>
            <a:pPr indent="0" marL="0">
              <a:spcAft>
                <a:spcPts val="600"/>
              </a:spcAft>
              <a:buNone/>
            </a:pPr>
            <a:r>
              <a:rPr lang="en-US" sz="1550" dirty="0">
                <a:solidFill>
                  <a:srgbClr val="222222"/>
                </a:solidFill>
                <a:latin typeface="Calibri" pitchFamily="34" charset="0"/>
                <a:ea typeface="Calibri" pitchFamily="34" charset="-122"/>
                <a:cs typeface="Calibri" pitchFamily="34" charset="-120"/>
              </a:rPr>
              <a:t>The contextual tracking features that make shot quality measurable — defender distance, touch time, dribbles, shot clock — are only publicly available for the 2014-15 season. </a:t>
            </a:r>
            <a:endParaRPr lang="en-US" sz="1550" dirty="0"/>
          </a:p>
          <a:p>
            <a:pPr indent="0" marL="0">
              <a:buNone/>
            </a:pPr>
            <a:r>
              <a:rPr lang="en-US" sz="1550" b="1" dirty="0">
                <a:solidFill>
                  <a:srgbClr val="222222"/>
                </a:solidFill>
                <a:latin typeface="Calibri" pitchFamily="34" charset="0"/>
                <a:ea typeface="Calibri" pitchFamily="34" charset="-122"/>
                <a:cs typeface="Calibri" pitchFamily="34" charset="-120"/>
              </a:rPr>
              <a:t>So we split deliberately: the detailed 2014-15 logs power the shot-quality model (RQ1 &amp; RQ3); the full 13 seasons power the location-over-time analysis (RQ2).</a:t>
            </a:r>
            <a:endParaRPr lang="en-US" sz="1550" dirty="0"/>
          </a:p>
        </p:txBody>
      </p:sp>
      <p:sp>
        <p:nvSpPr>
          <p:cNvPr id="9" name="Text 7"/>
          <p:cNvSpPr/>
          <p:nvPr/>
        </p:nvSpPr>
        <p:spPr>
          <a:xfrm>
            <a:off x="548640" y="6510528"/>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NBA Shot Quality Capstone — DAT 490 (Summer A 2026)</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100" b="1" spc="200" kern="0" dirty="0">
                <a:solidFill>
                  <a:srgbClr val="2E75B6"/>
                </a:solidFill>
                <a:latin typeface="Calibri" pitchFamily="34" charset="0"/>
                <a:ea typeface="Calibri" pitchFamily="34" charset="-122"/>
                <a:cs typeface="Calibri" pitchFamily="34" charset="-120"/>
              </a:rPr>
              <a:t>ENGINEERING CHALLENGES  ·  GERMAIN</a:t>
            </a:r>
            <a:endParaRPr lang="en-US" sz="1100" dirty="0"/>
          </a:p>
        </p:txBody>
      </p:sp>
      <p:sp>
        <p:nvSpPr>
          <p:cNvPr id="3" name="Text 1"/>
          <p:cNvSpPr/>
          <p:nvPr/>
        </p:nvSpPr>
        <p:spPr>
          <a:xfrm>
            <a:off x="548640" y="566928"/>
            <a:ext cx="11064240" cy="868680"/>
          </a:xfrm>
          <a:prstGeom prst="rect">
            <a:avLst/>
          </a:prstGeom>
          <a:noFill/>
          <a:ln/>
        </p:spPr>
        <p:txBody>
          <a:bodyPr wrap="square" lIns="0" tIns="0" rIns="0" bIns="0" rtlCol="0" anchor="t"/>
          <a:lstStyle/>
          <a:p>
            <a:pPr indent="0" marL="0">
              <a:buNone/>
            </a:pPr>
            <a:r>
              <a:rPr lang="en-US" sz="2900" b="1" dirty="0">
                <a:solidFill>
                  <a:srgbClr val="1F3864"/>
                </a:solidFill>
                <a:latin typeface="Georgia" pitchFamily="34" charset="0"/>
                <a:ea typeface="Georgia" pitchFamily="34" charset="-122"/>
                <a:cs typeface="Georgia" pitchFamily="34" charset="-120"/>
              </a:rPr>
              <a:t>What we hit — and how we fixed it</a:t>
            </a:r>
            <a:endParaRPr lang="en-US" sz="2900" dirty="0"/>
          </a:p>
        </p:txBody>
      </p:sp>
      <p:sp>
        <p:nvSpPr>
          <p:cNvPr id="4" name="Shape 2"/>
          <p:cNvSpPr/>
          <p:nvPr/>
        </p:nvSpPr>
        <p:spPr>
          <a:xfrm>
            <a:off x="548640" y="1783080"/>
            <a:ext cx="11091672" cy="1325880"/>
          </a:xfrm>
          <a:prstGeom prst="rect">
            <a:avLst/>
          </a:prstGeom>
          <a:solidFill>
            <a:srgbClr val="F4F7FB"/>
          </a:solidFill>
          <a:ln w="12700">
            <a:solidFill>
              <a:srgbClr val="DCE6F2"/>
            </a:solidFill>
            <a:prstDash val="solid"/>
          </a:ln>
          <a:effectLst>
            <a:outerShdw sx="100000" sy="100000" kx="0" ky="0" algn="bl" rotWithShape="0" blurRad="76200" dist="25400" dir="8100000">
              <a:srgbClr val="000000">
                <a:alpha val="12000"/>
              </a:srgbClr>
            </a:outerShdw>
          </a:effectLst>
        </p:spPr>
      </p:sp>
      <p:sp>
        <p:nvSpPr>
          <p:cNvPr id="5" name="Text 3"/>
          <p:cNvSpPr/>
          <p:nvPr/>
        </p:nvSpPr>
        <p:spPr>
          <a:xfrm>
            <a:off x="777240" y="1783080"/>
            <a:ext cx="3383280" cy="1325880"/>
          </a:xfrm>
          <a:prstGeom prst="rect">
            <a:avLst/>
          </a:prstGeom>
          <a:noFill/>
          <a:ln/>
        </p:spPr>
        <p:txBody>
          <a:bodyPr wrap="square" lIns="0" tIns="0" rIns="0" bIns="0" rtlCol="0" anchor="ctr"/>
          <a:lstStyle/>
          <a:p>
            <a:pPr indent="0" marL="0">
              <a:buNone/>
            </a:pPr>
            <a:r>
              <a:rPr lang="en-US" sz="1600" b="1" dirty="0">
                <a:solidFill>
                  <a:srgbClr val="1F3864"/>
                </a:solidFill>
                <a:latin typeface="Georgia" pitchFamily="34" charset="0"/>
                <a:ea typeface="Georgia" pitchFamily="34" charset="-122"/>
                <a:cs typeface="Georgia" pitchFamily="34" charset="-120"/>
              </a:rPr>
              <a:t>Windows 260-char path limit</a:t>
            </a:r>
            <a:endParaRPr lang="en-US" sz="1600" dirty="0"/>
          </a:p>
        </p:txBody>
      </p:sp>
      <p:sp>
        <p:nvSpPr>
          <p:cNvPr id="6" name="Text 4"/>
          <p:cNvSpPr/>
          <p:nvPr/>
        </p:nvSpPr>
        <p:spPr>
          <a:xfrm>
            <a:off x="4297680" y="1783080"/>
            <a:ext cx="3931920" cy="1325880"/>
          </a:xfrm>
          <a:prstGeom prst="rect">
            <a:avLst/>
          </a:prstGeom>
          <a:noFill/>
          <a:ln/>
        </p:spPr>
        <p:txBody>
          <a:bodyPr wrap="square" lIns="0" tIns="0" rIns="0" bIns="0" rtlCol="0" anchor="ctr"/>
          <a:lstStyle/>
          <a:p>
            <a:pPr indent="0" marL="0">
              <a:buNone/>
            </a:pPr>
            <a:r>
              <a:rPr lang="en-US" sz="1350" dirty="0">
                <a:solidFill>
                  <a:srgbClr val="222222"/>
                </a:solidFill>
                <a:latin typeface="Calibri" pitchFamily="34" charset="0"/>
                <a:ea typeface="Calibri" pitchFamily="34" charset="-122"/>
                <a:cs typeface="Calibri" pitchFamily="34" charset="-120"/>
              </a:rPr>
              <a:t>Parquet writes &amp; installs failed in a long directory.</a:t>
            </a:r>
            <a:endParaRPr lang="en-US" sz="1350" dirty="0"/>
          </a:p>
        </p:txBody>
      </p:sp>
      <p:sp>
        <p:nvSpPr>
          <p:cNvPr id="7" name="Shape 5"/>
          <p:cNvSpPr/>
          <p:nvPr/>
        </p:nvSpPr>
        <p:spPr>
          <a:xfrm>
            <a:off x="8366760" y="1947672"/>
            <a:ext cx="3108960" cy="996696"/>
          </a:xfrm>
          <a:prstGeom prst="rect">
            <a:avLst/>
          </a:prstGeom>
          <a:solidFill>
            <a:srgbClr val="EAF3EA"/>
          </a:solidFill>
          <a:ln w="12700">
            <a:solidFill>
              <a:srgbClr val="9FC79F"/>
            </a:solidFill>
            <a:prstDash val="solid"/>
          </a:ln>
        </p:spPr>
      </p:sp>
      <p:sp>
        <p:nvSpPr>
          <p:cNvPr id="8" name="Text 6"/>
          <p:cNvSpPr/>
          <p:nvPr/>
        </p:nvSpPr>
        <p:spPr>
          <a:xfrm>
            <a:off x="8503920" y="1947672"/>
            <a:ext cx="2834640" cy="996696"/>
          </a:xfrm>
          <a:prstGeom prst="rect">
            <a:avLst/>
          </a:prstGeom>
          <a:noFill/>
          <a:ln/>
        </p:spPr>
        <p:txBody>
          <a:bodyPr wrap="square" lIns="0" tIns="0" rIns="0" bIns="0"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Moved the repo to a short path: C:\nba.</a:t>
            </a:r>
            <a:endParaRPr lang="en-US" sz="1300" dirty="0"/>
          </a:p>
        </p:txBody>
      </p:sp>
      <p:sp>
        <p:nvSpPr>
          <p:cNvPr id="9" name="Shape 7"/>
          <p:cNvSpPr/>
          <p:nvPr/>
        </p:nvSpPr>
        <p:spPr>
          <a:xfrm>
            <a:off x="548640" y="3264408"/>
            <a:ext cx="11091672" cy="1325880"/>
          </a:xfrm>
          <a:prstGeom prst="rect">
            <a:avLst/>
          </a:prstGeom>
          <a:solidFill>
            <a:srgbClr val="F4F7FB"/>
          </a:solidFill>
          <a:ln w="12700">
            <a:solidFill>
              <a:srgbClr val="DCE6F2"/>
            </a:solidFill>
            <a:prstDash val="solid"/>
          </a:ln>
          <a:effectLst>
            <a:outerShdw sx="100000" sy="100000" kx="0" ky="0" algn="bl" rotWithShape="0" blurRad="76200" dist="25400" dir="8100000">
              <a:srgbClr val="000000">
                <a:alpha val="12000"/>
              </a:srgbClr>
            </a:outerShdw>
          </a:effectLst>
        </p:spPr>
      </p:sp>
      <p:sp>
        <p:nvSpPr>
          <p:cNvPr id="10" name="Text 8"/>
          <p:cNvSpPr/>
          <p:nvPr/>
        </p:nvSpPr>
        <p:spPr>
          <a:xfrm>
            <a:off x="777240" y="3264408"/>
            <a:ext cx="3383280" cy="1325880"/>
          </a:xfrm>
          <a:prstGeom prst="rect">
            <a:avLst/>
          </a:prstGeom>
          <a:noFill/>
          <a:ln/>
        </p:spPr>
        <p:txBody>
          <a:bodyPr wrap="square" lIns="0" tIns="0" rIns="0" bIns="0" rtlCol="0" anchor="ctr"/>
          <a:lstStyle/>
          <a:p>
            <a:pPr indent="0" marL="0">
              <a:buNone/>
            </a:pPr>
            <a:r>
              <a:rPr lang="en-US" sz="1600" b="1" dirty="0">
                <a:solidFill>
                  <a:srgbClr val="1F3864"/>
                </a:solidFill>
                <a:latin typeface="Georgia" pitchFamily="34" charset="0"/>
                <a:ea typeface="Georgia" pitchFamily="34" charset="-122"/>
                <a:cs typeface="Georgia" pitchFamily="34" charset="-120"/>
              </a:rPr>
              <a:t>Anaconda vs .venv clash</a:t>
            </a:r>
            <a:endParaRPr lang="en-US" sz="1600" dirty="0"/>
          </a:p>
        </p:txBody>
      </p:sp>
      <p:sp>
        <p:nvSpPr>
          <p:cNvPr id="11" name="Text 9"/>
          <p:cNvSpPr/>
          <p:nvPr/>
        </p:nvSpPr>
        <p:spPr>
          <a:xfrm>
            <a:off x="4297680" y="3264408"/>
            <a:ext cx="3931920" cy="1325880"/>
          </a:xfrm>
          <a:prstGeom prst="rect">
            <a:avLst/>
          </a:prstGeom>
          <a:noFill/>
          <a:ln/>
        </p:spPr>
        <p:txBody>
          <a:bodyPr wrap="square" lIns="0" tIns="0" rIns="0" bIns="0" rtlCol="0" anchor="ctr"/>
          <a:lstStyle/>
          <a:p>
            <a:pPr indent="0" marL="0">
              <a:buNone/>
            </a:pPr>
            <a:r>
              <a:rPr lang="en-US" sz="1350" dirty="0">
                <a:solidFill>
                  <a:srgbClr val="222222"/>
                </a:solidFill>
                <a:latin typeface="Calibri" pitchFamily="34" charset="0"/>
                <a:ea typeface="Calibri" pitchFamily="34" charset="-122"/>
                <a:cs typeface="Calibri" pitchFamily="34" charset="-120"/>
              </a:rPr>
              <a:t>Phantom "module not found" errors on installed packages.</a:t>
            </a:r>
            <a:endParaRPr lang="en-US" sz="1350" dirty="0"/>
          </a:p>
        </p:txBody>
      </p:sp>
      <p:sp>
        <p:nvSpPr>
          <p:cNvPr id="12" name="Shape 10"/>
          <p:cNvSpPr/>
          <p:nvPr/>
        </p:nvSpPr>
        <p:spPr>
          <a:xfrm>
            <a:off x="8366760" y="3429000"/>
            <a:ext cx="3108960" cy="996696"/>
          </a:xfrm>
          <a:prstGeom prst="rect">
            <a:avLst/>
          </a:prstGeom>
          <a:solidFill>
            <a:srgbClr val="EAF3EA"/>
          </a:solidFill>
          <a:ln w="12700">
            <a:solidFill>
              <a:srgbClr val="9FC79F"/>
            </a:solidFill>
            <a:prstDash val="solid"/>
          </a:ln>
        </p:spPr>
      </p:sp>
      <p:sp>
        <p:nvSpPr>
          <p:cNvPr id="13" name="Text 11"/>
          <p:cNvSpPr/>
          <p:nvPr/>
        </p:nvSpPr>
        <p:spPr>
          <a:xfrm>
            <a:off x="8503920" y="3429000"/>
            <a:ext cx="2834640" cy="996696"/>
          </a:xfrm>
          <a:prstGeom prst="rect">
            <a:avLst/>
          </a:prstGeom>
          <a:noFill/>
          <a:ln/>
        </p:spPr>
        <p:txBody>
          <a:bodyPr wrap="square" lIns="0" tIns="0" rIns="0" bIns="0"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Standardized on a dedicated .venv for everyone.</a:t>
            </a:r>
            <a:endParaRPr lang="en-US" sz="1300" dirty="0"/>
          </a:p>
        </p:txBody>
      </p:sp>
      <p:sp>
        <p:nvSpPr>
          <p:cNvPr id="14" name="Shape 12"/>
          <p:cNvSpPr/>
          <p:nvPr/>
        </p:nvSpPr>
        <p:spPr>
          <a:xfrm>
            <a:off x="548640" y="4745736"/>
            <a:ext cx="11091672" cy="1325880"/>
          </a:xfrm>
          <a:prstGeom prst="rect">
            <a:avLst/>
          </a:prstGeom>
          <a:solidFill>
            <a:srgbClr val="F4F7FB"/>
          </a:solidFill>
          <a:ln w="12700">
            <a:solidFill>
              <a:srgbClr val="DCE6F2"/>
            </a:solidFill>
            <a:prstDash val="solid"/>
          </a:ln>
          <a:effectLst>
            <a:outerShdw sx="100000" sy="100000" kx="0" ky="0" algn="bl" rotWithShape="0" blurRad="76200" dist="25400" dir="8100000">
              <a:srgbClr val="000000">
                <a:alpha val="12000"/>
              </a:srgbClr>
            </a:outerShdw>
          </a:effectLst>
        </p:spPr>
      </p:sp>
      <p:sp>
        <p:nvSpPr>
          <p:cNvPr id="15" name="Text 13"/>
          <p:cNvSpPr/>
          <p:nvPr/>
        </p:nvSpPr>
        <p:spPr>
          <a:xfrm>
            <a:off x="777240" y="4745736"/>
            <a:ext cx="3383280" cy="1325880"/>
          </a:xfrm>
          <a:prstGeom prst="rect">
            <a:avLst/>
          </a:prstGeom>
          <a:noFill/>
          <a:ln/>
        </p:spPr>
        <p:txBody>
          <a:bodyPr wrap="square" lIns="0" tIns="0" rIns="0" bIns="0" rtlCol="0" anchor="ctr"/>
          <a:lstStyle/>
          <a:p>
            <a:pPr indent="0" marL="0">
              <a:buNone/>
            </a:pPr>
            <a:r>
              <a:rPr lang="en-US" sz="1600" b="1" dirty="0">
                <a:solidFill>
                  <a:srgbClr val="1F3864"/>
                </a:solidFill>
                <a:latin typeface="Georgia" pitchFamily="34" charset="0"/>
                <a:ea typeface="Georgia" pitchFamily="34" charset="-122"/>
                <a:cs typeface="Georgia" pitchFamily="34" charset="-120"/>
              </a:rPr>
              <a:t>XGBoost wouldn't load on Mac</a:t>
            </a:r>
            <a:endParaRPr lang="en-US" sz="1600" dirty="0"/>
          </a:p>
        </p:txBody>
      </p:sp>
      <p:sp>
        <p:nvSpPr>
          <p:cNvPr id="16" name="Text 14"/>
          <p:cNvSpPr/>
          <p:nvPr/>
        </p:nvSpPr>
        <p:spPr>
          <a:xfrm>
            <a:off x="4297680" y="4745736"/>
            <a:ext cx="3931920" cy="1325880"/>
          </a:xfrm>
          <a:prstGeom prst="rect">
            <a:avLst/>
          </a:prstGeom>
          <a:noFill/>
          <a:ln/>
        </p:spPr>
        <p:txBody>
          <a:bodyPr wrap="square" lIns="0" tIns="0" rIns="0" bIns="0" rtlCol="0" anchor="ctr"/>
          <a:lstStyle/>
          <a:p>
            <a:pPr indent="0" marL="0">
              <a:buNone/>
            </a:pPr>
            <a:r>
              <a:rPr lang="en-US" sz="1350" dirty="0">
                <a:solidFill>
                  <a:srgbClr val="222222"/>
                </a:solidFill>
                <a:latin typeface="Calibri" pitchFamily="34" charset="0"/>
                <a:ea typeface="Calibri" pitchFamily="34" charset="-122"/>
                <a:cs typeface="Calibri" pitchFamily="34" charset="-120"/>
              </a:rPr>
              <a:t>A teammate couldn't run the model locally.</a:t>
            </a:r>
            <a:endParaRPr lang="en-US" sz="1350" dirty="0"/>
          </a:p>
        </p:txBody>
      </p:sp>
      <p:sp>
        <p:nvSpPr>
          <p:cNvPr id="17" name="Shape 15"/>
          <p:cNvSpPr/>
          <p:nvPr/>
        </p:nvSpPr>
        <p:spPr>
          <a:xfrm>
            <a:off x="8366760" y="4910328"/>
            <a:ext cx="3108960" cy="996696"/>
          </a:xfrm>
          <a:prstGeom prst="rect">
            <a:avLst/>
          </a:prstGeom>
          <a:solidFill>
            <a:srgbClr val="EAF3EA"/>
          </a:solidFill>
          <a:ln w="12700">
            <a:solidFill>
              <a:srgbClr val="9FC79F"/>
            </a:solidFill>
            <a:prstDash val="solid"/>
          </a:ln>
        </p:spPr>
      </p:sp>
      <p:sp>
        <p:nvSpPr>
          <p:cNvPr id="18" name="Text 16"/>
          <p:cNvSpPr/>
          <p:nvPr/>
        </p:nvSpPr>
        <p:spPr>
          <a:xfrm>
            <a:off x="8503920" y="4910328"/>
            <a:ext cx="2834640" cy="996696"/>
          </a:xfrm>
          <a:prstGeom prst="rect">
            <a:avLst/>
          </a:prstGeom>
          <a:noFill/>
          <a:ln/>
        </p:spPr>
        <p:txBody>
          <a:bodyPr wrap="square" lIns="0" tIns="0" rIns="0" bIns="0"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Saved model outputs as small CSVs the viz code reads directly.</a:t>
            </a:r>
            <a:endParaRPr lang="en-US" sz="1300" dirty="0"/>
          </a:p>
        </p:txBody>
      </p:sp>
      <p:sp>
        <p:nvSpPr>
          <p:cNvPr id="19" name="Text 17"/>
          <p:cNvSpPr/>
          <p:nvPr/>
        </p:nvSpPr>
        <p:spPr>
          <a:xfrm>
            <a:off x="548640" y="6510528"/>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NBA Shot Quality Capstone — DAT 490 (Summer A 2026)</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7315200" y="182880"/>
            <a:ext cx="4663440" cy="6492240"/>
          </a:xfrm>
          <a:prstGeom prst="rect">
            <a:avLst/>
          </a:prstGeom>
          <a:noFill/>
          <a:ln/>
        </p:spPr>
        <p:txBody>
          <a:bodyPr wrap="square" lIns="0" tIns="0" rIns="0" bIns="0" rtlCol="0" anchor="ctr"/>
          <a:lstStyle/>
          <a:p>
            <a:pPr algn="r" indent="0" marL="0">
              <a:buNone/>
            </a:pPr>
            <a:r>
              <a:rPr lang="en-US" sz="30000" b="1" dirty="0">
                <a:solidFill>
                  <a:srgbClr val="2A4A78"/>
                </a:solidFill>
                <a:latin typeface="Georgia" pitchFamily="34" charset="0"/>
                <a:ea typeface="Georgia" pitchFamily="34" charset="-122"/>
                <a:cs typeface="Georgia" pitchFamily="34" charset="-120"/>
              </a:rPr>
              <a:t>3</a:t>
            </a:r>
            <a:endParaRPr lang="en-US" sz="30000" dirty="0"/>
          </a:p>
        </p:txBody>
      </p:sp>
      <p:sp>
        <p:nvSpPr>
          <p:cNvPr id="3" name="Text 1"/>
          <p:cNvSpPr/>
          <p:nvPr/>
        </p:nvSpPr>
        <p:spPr>
          <a:xfrm>
            <a:off x="777240" y="1828800"/>
            <a:ext cx="7315200" cy="365760"/>
          </a:xfrm>
          <a:prstGeom prst="rect">
            <a:avLst/>
          </a:prstGeom>
          <a:noFill/>
          <a:ln/>
        </p:spPr>
        <p:txBody>
          <a:bodyPr wrap="square" lIns="0" tIns="0" rIns="0" bIns="0" rtlCol="0" anchor="ctr"/>
          <a:lstStyle/>
          <a:p>
            <a:pPr indent="0" marL="0">
              <a:buNone/>
            </a:pPr>
            <a:r>
              <a:rPr lang="en-US" sz="1500" b="1" spc="300" kern="0" dirty="0">
                <a:solidFill>
                  <a:srgbClr val="E23B54"/>
                </a:solidFill>
                <a:latin typeface="Calibri" pitchFamily="34" charset="0"/>
                <a:ea typeface="Calibri" pitchFamily="34" charset="-122"/>
                <a:cs typeface="Calibri" pitchFamily="34" charset="-120"/>
              </a:rPr>
              <a:t>SEGMENT 3</a:t>
            </a:r>
            <a:endParaRPr lang="en-US" sz="1500" dirty="0"/>
          </a:p>
        </p:txBody>
      </p:sp>
      <p:sp>
        <p:nvSpPr>
          <p:cNvPr id="4" name="Text 2"/>
          <p:cNvSpPr/>
          <p:nvPr/>
        </p:nvSpPr>
        <p:spPr>
          <a:xfrm>
            <a:off x="777240" y="2240280"/>
            <a:ext cx="7498080" cy="1554480"/>
          </a:xfrm>
          <a:prstGeom prst="rect">
            <a:avLst/>
          </a:prstGeom>
          <a:noFill/>
          <a:ln/>
        </p:spPr>
        <p:txBody>
          <a:bodyPr wrap="square" lIns="0" tIns="0" rIns="0" bIns="0" rtlCol="0" anchor="t"/>
          <a:lstStyle/>
          <a:p>
            <a:pPr indent="0" marL="0">
              <a:buNone/>
            </a:pPr>
            <a:r>
              <a:rPr lang="en-US" sz="4000" b="1" dirty="0">
                <a:solidFill>
                  <a:srgbClr val="FFFFFF"/>
                </a:solidFill>
                <a:latin typeface="Georgia" pitchFamily="34" charset="0"/>
                <a:ea typeface="Georgia" pitchFamily="34" charset="-122"/>
                <a:cs typeface="Georgia" pitchFamily="34" charset="-120"/>
              </a:rPr>
              <a:t>Exploratory Analysis &amp; Visualization</a:t>
            </a:r>
            <a:endParaRPr lang="en-US" sz="4000" dirty="0"/>
          </a:p>
        </p:txBody>
      </p:sp>
      <p:sp>
        <p:nvSpPr>
          <p:cNvPr id="5" name="Text 3"/>
          <p:cNvSpPr/>
          <p:nvPr/>
        </p:nvSpPr>
        <p:spPr>
          <a:xfrm>
            <a:off x="822960" y="4160520"/>
            <a:ext cx="6400800" cy="82296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Calder Wyllie</a:t>
            </a:r>
            <a:endParaRPr lang="en-US" sz="1900" dirty="0"/>
          </a:p>
          <a:p>
            <a:pPr indent="0" marL="0">
              <a:buNone/>
            </a:pPr>
            <a:r>
              <a:rPr lang="en-US" sz="1600" dirty="0">
                <a:solidFill>
                  <a:srgbClr val="CADCFC"/>
                </a:solidFill>
                <a:latin typeface="Calibri" pitchFamily="34" charset="0"/>
                <a:ea typeface="Calibri" pitchFamily="34" charset="-122"/>
                <a:cs typeface="Calibri" pitchFamily="34" charset="-120"/>
              </a:rPr>
              <a:t>EDA &amp; Visualization Lead</a:t>
            </a:r>
            <a:endParaRPr lang="en-US" sz="1900" dirty="0"/>
          </a:p>
        </p:txBody>
      </p:sp>
      <p:sp>
        <p:nvSpPr>
          <p:cNvPr id="6" name="Shape 4"/>
          <p:cNvSpPr/>
          <p:nvPr/>
        </p:nvSpPr>
        <p:spPr>
          <a:xfrm>
            <a:off x="822960" y="5074920"/>
            <a:ext cx="1737360" cy="502920"/>
          </a:xfrm>
          <a:prstGeom prst="roundRect">
            <a:avLst>
              <a:gd name="adj" fmla="val 14545"/>
            </a:avLst>
          </a:prstGeom>
          <a:solidFill>
            <a:srgbClr val="C8102E"/>
          </a:solidFill>
          <a:ln/>
        </p:spPr>
      </p:sp>
      <p:sp>
        <p:nvSpPr>
          <p:cNvPr id="7" name="Text 5"/>
          <p:cNvSpPr/>
          <p:nvPr/>
        </p:nvSpPr>
        <p:spPr>
          <a:xfrm>
            <a:off x="822960" y="5074920"/>
            <a:ext cx="173736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  ~5 min</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100" b="1" spc="200" kern="0" dirty="0">
                <a:solidFill>
                  <a:srgbClr val="2E75B6"/>
                </a:solidFill>
                <a:latin typeface="Calibri" pitchFamily="34" charset="0"/>
                <a:ea typeface="Calibri" pitchFamily="34" charset="-122"/>
                <a:cs typeface="Calibri" pitchFamily="34" charset="-120"/>
              </a:rPr>
              <a:t>EXPLORING THE DATA  ·  CALDER</a:t>
            </a:r>
            <a:endParaRPr lang="en-US" sz="1100" dirty="0"/>
          </a:p>
        </p:txBody>
      </p:sp>
      <p:sp>
        <p:nvSpPr>
          <p:cNvPr id="3" name="Text 1"/>
          <p:cNvSpPr/>
          <p:nvPr/>
        </p:nvSpPr>
        <p:spPr>
          <a:xfrm>
            <a:off x="548640" y="566928"/>
            <a:ext cx="11064240" cy="868680"/>
          </a:xfrm>
          <a:prstGeom prst="rect">
            <a:avLst/>
          </a:prstGeom>
          <a:noFill/>
          <a:ln/>
        </p:spPr>
        <p:txBody>
          <a:bodyPr wrap="square" lIns="0" tIns="0" rIns="0" bIns="0" rtlCol="0" anchor="t"/>
          <a:lstStyle/>
          <a:p>
            <a:pPr indent="0" marL="0">
              <a:buNone/>
            </a:pPr>
            <a:r>
              <a:rPr lang="en-US" sz="2900" b="1" dirty="0">
                <a:solidFill>
                  <a:srgbClr val="1F3864"/>
                </a:solidFill>
                <a:latin typeface="Georgia" pitchFamily="34" charset="0"/>
                <a:ea typeface="Georgia" pitchFamily="34" charset="-122"/>
                <a:cs typeface="Georgia" pitchFamily="34" charset="-120"/>
              </a:rPr>
              <a:t>Before modeling: how has shooting changed?</a:t>
            </a:r>
            <a:endParaRPr lang="en-US" sz="2900" dirty="0"/>
          </a:p>
        </p:txBody>
      </p:sp>
      <p:sp>
        <p:nvSpPr>
          <p:cNvPr id="4" name="Text 2"/>
          <p:cNvSpPr/>
          <p:nvPr/>
        </p:nvSpPr>
        <p:spPr>
          <a:xfrm>
            <a:off x="548640" y="1600200"/>
            <a:ext cx="6126480" cy="4206240"/>
          </a:xfrm>
          <a:prstGeom prst="rect">
            <a:avLst/>
          </a:prstGeom>
          <a:noFill/>
          <a:ln/>
        </p:spPr>
        <p:txBody>
          <a:bodyPr wrap="square" lIns="0" tIns="0" rIns="0" bIns="0" rtlCol="0" anchor="t"/>
          <a:lstStyle/>
          <a:p>
            <a:pPr marL="177800" indent="-1778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Before any modeling, we wanted to understand the shooting landscape across all 13 seasons.</a:t>
            </a:r>
            <a:endParaRPr lang="en-US" sz="1500" dirty="0"/>
          </a:p>
          <a:p>
            <a:pPr marL="177800" indent="-1778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We focused on the variables tied to whether a shot goes in: distance, court location and zone, shot type, and the made/missed flag.</a:t>
            </a:r>
            <a:endParaRPr lang="en-US" sz="1500" dirty="0"/>
          </a:p>
          <a:p>
            <a:pPr marL="177800" indent="-177800">
              <a:spcAft>
                <a:spcPts val="400"/>
              </a:spcAft>
              <a:buSzPct val="100000"/>
              <a:buChar char="•"/>
            </a:pPr>
            <a:r>
              <a:rPr lang="en-US" sz="1500" b="1" dirty="0">
                <a:solidFill>
                  <a:srgbClr val="1F3864"/>
                </a:solidFill>
                <a:latin typeface="Calibri" pitchFamily="34" charset="0"/>
                <a:ea typeface="Calibri" pitchFamily="34" charset="-122"/>
                <a:cs typeface="Calibri" pitchFamily="34" charset="-120"/>
              </a:rPr>
              <a:t>First big picture — shot selection has changed dramatically.</a:t>
            </a:r>
            <a:endParaRPr lang="en-US" sz="1500" dirty="0"/>
          </a:p>
          <a:p>
            <a:pPr marL="177800" indent="-1778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Average shot distance climbs steadily through the late 2010s, then plateaus — the fingerprint of a league that moved outward and settled into a new normal.</a:t>
            </a:r>
            <a:endParaRPr lang="en-US" sz="1500" dirty="0"/>
          </a:p>
        </p:txBody>
      </p:sp>
      <p:sp>
        <p:nvSpPr>
          <p:cNvPr id="5" name="Shape 3"/>
          <p:cNvSpPr/>
          <p:nvPr/>
        </p:nvSpPr>
        <p:spPr>
          <a:xfrm>
            <a:off x="6949440" y="1600200"/>
            <a:ext cx="4754880" cy="4480560"/>
          </a:xfrm>
          <a:prstGeom prst="rect">
            <a:avLst/>
          </a:prstGeom>
          <a:solidFill>
            <a:srgbClr val="FFFFFF"/>
          </a:solidFill>
          <a:ln w="12700">
            <a:solidFill>
              <a:srgbClr val="DCE6F2"/>
            </a:solidFill>
            <a:prstDash val="solid"/>
          </a:ln>
          <a:effectLst>
            <a:outerShdw sx="100000" sy="100000" kx="0" ky="0" algn="bl" rotWithShape="0" blurRad="76200" dist="25400" dir="8100000">
              <a:srgbClr val="000000">
                <a:alpha val="12000"/>
              </a:srgbClr>
            </a:outerShdw>
          </a:effectLst>
        </p:spPr>
      </p:sp>
      <p:pic>
        <p:nvPicPr>
          <p:cNvPr id="6" name="Image 0" descr="eda_charts/chart_A_02_distributions_cell4.png">    </p:cNvPr>
          <p:cNvPicPr>
            <a:picLocks noChangeAspect="1"/>
          </p:cNvPicPr>
          <p:nvPr/>
        </p:nvPicPr>
        <p:blipFill>
          <a:blip r:embed="rId1"/>
          <a:stretch>
            <a:fillRect/>
          </a:stretch>
        </p:blipFill>
        <p:spPr>
          <a:xfrm>
            <a:off x="7040880" y="1919472"/>
            <a:ext cx="4572000" cy="3842017"/>
          </a:xfrm>
          <a:prstGeom prst="rect">
            <a:avLst/>
          </a:prstGeom>
        </p:spPr>
      </p:pic>
      <p:sp>
        <p:nvSpPr>
          <p:cNvPr id="7" name="Text 4"/>
          <p:cNvSpPr/>
          <p:nvPr/>
        </p:nvSpPr>
        <p:spPr>
          <a:xfrm>
            <a:off x="548640" y="6510528"/>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NBA Shot Quality Capstone — DAT 490 (Summer A 2026)</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100" b="1" spc="200" kern="0" dirty="0">
                <a:solidFill>
                  <a:srgbClr val="2E75B6"/>
                </a:solidFill>
                <a:latin typeface="Calibri" pitchFamily="34" charset="0"/>
                <a:ea typeface="Calibri" pitchFamily="34" charset="-122"/>
                <a:cs typeface="Calibri" pitchFamily="34" charset="-120"/>
              </a:rPr>
              <a:t>RQ2 · THE THREE-POINT REVOLUTION  ·  CALDER</a:t>
            </a:r>
            <a:endParaRPr lang="en-US" sz="1100" dirty="0"/>
          </a:p>
        </p:txBody>
      </p:sp>
      <p:sp>
        <p:nvSpPr>
          <p:cNvPr id="3" name="Text 1"/>
          <p:cNvSpPr/>
          <p:nvPr/>
        </p:nvSpPr>
        <p:spPr>
          <a:xfrm>
            <a:off x="548640" y="566928"/>
            <a:ext cx="11064240" cy="868680"/>
          </a:xfrm>
          <a:prstGeom prst="rect">
            <a:avLst/>
          </a:prstGeom>
          <a:noFill/>
          <a:ln/>
        </p:spPr>
        <p:txBody>
          <a:bodyPr wrap="square" lIns="0" tIns="0" rIns="0" bIns="0" rtlCol="0" anchor="t"/>
          <a:lstStyle/>
          <a:p>
            <a:pPr indent="0" marL="0">
              <a:buNone/>
            </a:pPr>
            <a:r>
              <a:rPr lang="en-US" sz="2900" b="1" dirty="0">
                <a:solidFill>
                  <a:srgbClr val="1F3864"/>
                </a:solidFill>
                <a:latin typeface="Georgia" pitchFamily="34" charset="0"/>
                <a:ea typeface="Georgia" pitchFamily="34" charset="-122"/>
                <a:cs typeface="Georgia" pitchFamily="34" charset="-120"/>
              </a:rPr>
              <a:t>Where teams shoot has been rebuilt</a:t>
            </a:r>
            <a:endParaRPr lang="en-US" sz="2900" dirty="0"/>
          </a:p>
        </p:txBody>
      </p:sp>
      <p:sp>
        <p:nvSpPr>
          <p:cNvPr id="4" name="Text 2"/>
          <p:cNvSpPr/>
          <p:nvPr/>
        </p:nvSpPr>
        <p:spPr>
          <a:xfrm>
            <a:off x="548640" y="1600200"/>
            <a:ext cx="5852160" cy="4297680"/>
          </a:xfrm>
          <a:prstGeom prst="rect">
            <a:avLst/>
          </a:prstGeom>
          <a:noFill/>
          <a:ln/>
        </p:spPr>
        <p:txBody>
          <a:bodyPr wrap="square" lIns="0" tIns="0" rIns="0" bIns="0" rtlCol="0" anchor="t"/>
          <a:lstStyle/>
          <a:p>
            <a:pPr marL="177800" indent="-177800">
              <a:spcAft>
                <a:spcPts val="600"/>
              </a:spcAft>
              <a:buSzPct val="100000"/>
              <a:buChar char="•"/>
            </a:pPr>
            <a:r>
              <a:rPr lang="en-US" sz="1500" b="1" dirty="0">
                <a:solidFill>
                  <a:srgbClr val="1F3864"/>
                </a:solidFill>
                <a:latin typeface="Calibri" pitchFamily="34" charset="0"/>
                <a:ea typeface="Calibri" pitchFamily="34" charset="-122"/>
                <a:cs typeface="Calibri" pitchFamily="34" charset="-120"/>
              </a:rPr>
              <a:t>Comparing 2013-14 to 2025-26 by zone:</a:t>
            </a:r>
            <a:endParaRPr lang="en-US" sz="1500" dirty="0"/>
          </a:p>
          <a:p>
            <a:pPr marL="177800" indent="-177800">
              <a:spcAft>
                <a:spcPts val="400"/>
              </a:spcAft>
              <a:buSzPct val="100000"/>
              <a:buChar char="•"/>
            </a:pPr>
            <a:r>
              <a:rPr lang="en-US" sz="1500" dirty="0">
                <a:solidFill>
                  <a:srgbClr val="222222"/>
                </a:solidFill>
                <a:latin typeface="Calibri" pitchFamily="34" charset="0"/>
                <a:ea typeface="Calibri" pitchFamily="34" charset="-122"/>
                <a:cs typeface="Calibri" pitchFamily="34" charset="-120"/>
              </a:rPr>
              <a:t>Mid-range: ~27% → ~10% of attempts  (−16.7 pts — the biggest move)</a:t>
            </a:r>
            <a:endParaRPr lang="en-US" sz="1500" dirty="0"/>
          </a:p>
          <a:p>
            <a:pPr marL="177800" indent="-177800">
              <a:spcAft>
                <a:spcPts val="400"/>
              </a:spcAft>
              <a:buSzPct val="100000"/>
              <a:buChar char="•"/>
            </a:pPr>
            <a:r>
              <a:rPr lang="en-US" sz="1500" dirty="0">
                <a:solidFill>
                  <a:srgbClr val="222222"/>
                </a:solidFill>
                <a:latin typeface="Calibri" pitchFamily="34" charset="0"/>
                <a:ea typeface="Calibri" pitchFamily="34" charset="-122"/>
                <a:cs typeface="Calibri" pitchFamily="34" charset="-120"/>
              </a:rPr>
              <a:t>Above-the-break 3: +11.5 pts</a:t>
            </a:r>
            <a:endParaRPr lang="en-US" sz="1500" dirty="0"/>
          </a:p>
          <a:p>
            <a:pPr marL="177800" indent="-1778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This is the three-point revolution — and it shows up cleanly in our data.</a:t>
            </a:r>
            <a:endParaRPr lang="en-US" sz="1500" dirty="0"/>
          </a:p>
          <a:p>
            <a:pPr marL="177800" indent="-177800">
              <a:spcAft>
                <a:spcPts val="800"/>
              </a:spcAft>
              <a:buSzPct val="100000"/>
              <a:buChar char="•"/>
            </a:pPr>
            <a:r>
              <a:rPr lang="en-US" sz="1500" b="1" dirty="0">
                <a:solidFill>
                  <a:srgbClr val="1F3864"/>
                </a:solidFill>
                <a:latin typeface="Calibri" pitchFamily="34" charset="0"/>
                <a:ea typeface="Calibri" pitchFamily="34" charset="-122"/>
                <a:cs typeface="Calibri" pitchFamily="34" charset="-120"/>
              </a:rPr>
              <a:t>That's the heart of RQ2: the geography of shooting has been completely rebuilt over the era.</a:t>
            </a:r>
            <a:endParaRPr lang="en-US" sz="1500" dirty="0"/>
          </a:p>
        </p:txBody>
      </p:sp>
      <p:sp>
        <p:nvSpPr>
          <p:cNvPr id="5" name="Shape 3"/>
          <p:cNvSpPr/>
          <p:nvPr/>
        </p:nvSpPr>
        <p:spPr>
          <a:xfrm>
            <a:off x="6675120" y="1554480"/>
            <a:ext cx="5029200" cy="4572000"/>
          </a:xfrm>
          <a:prstGeom prst="rect">
            <a:avLst/>
          </a:prstGeom>
          <a:solidFill>
            <a:srgbClr val="FFFFFF"/>
          </a:solidFill>
          <a:ln w="12700">
            <a:solidFill>
              <a:srgbClr val="DCE6F2"/>
            </a:solidFill>
            <a:prstDash val="solid"/>
          </a:ln>
          <a:effectLst>
            <a:outerShdw sx="100000" sy="100000" kx="0" ky="0" algn="bl" rotWithShape="0" blurRad="76200" dist="25400" dir="8100000">
              <a:srgbClr val="000000">
                <a:alpha val="12000"/>
              </a:srgbClr>
            </a:outerShdw>
          </a:effectLst>
        </p:spPr>
      </p:sp>
      <p:pic>
        <p:nvPicPr>
          <p:cNvPr id="6" name="Image 0" descr="dataviz_charts/rq2_zone_attempt_change.png">    </p:cNvPr>
          <p:cNvPicPr>
            <a:picLocks noChangeAspect="1"/>
          </p:cNvPicPr>
          <p:nvPr/>
        </p:nvPicPr>
        <p:blipFill>
          <a:blip r:embed="rId1"/>
          <a:stretch>
            <a:fillRect/>
          </a:stretch>
        </p:blipFill>
        <p:spPr>
          <a:xfrm>
            <a:off x="6766560" y="2431666"/>
            <a:ext cx="4846320" cy="2817628"/>
          </a:xfrm>
          <a:prstGeom prst="rect">
            <a:avLst/>
          </a:prstGeom>
        </p:spPr>
      </p:pic>
      <p:sp>
        <p:nvSpPr>
          <p:cNvPr id="7" name="Text 4"/>
          <p:cNvSpPr/>
          <p:nvPr/>
        </p:nvSpPr>
        <p:spPr>
          <a:xfrm>
            <a:off x="548640" y="6510528"/>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NBA Shot Quality Capstone — DAT 490 (Summer A 2026)</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100" b="1" spc="200" kern="0" dirty="0">
                <a:solidFill>
                  <a:srgbClr val="2E75B6"/>
                </a:solidFill>
                <a:latin typeface="Calibri" pitchFamily="34" charset="0"/>
                <a:ea typeface="Calibri" pitchFamily="34" charset="-122"/>
                <a:cs typeface="Calibri" pitchFamily="34" charset="-120"/>
              </a:rPr>
              <a:t>RQ2 · EFFICIENCY HELD STEADY  ·  CALDER</a:t>
            </a:r>
            <a:endParaRPr lang="en-US" sz="1100" dirty="0"/>
          </a:p>
        </p:txBody>
      </p:sp>
      <p:sp>
        <p:nvSpPr>
          <p:cNvPr id="3" name="Text 1"/>
          <p:cNvSpPr/>
          <p:nvPr/>
        </p:nvSpPr>
        <p:spPr>
          <a:xfrm>
            <a:off x="548640" y="566928"/>
            <a:ext cx="11064240" cy="868680"/>
          </a:xfrm>
          <a:prstGeom prst="rect">
            <a:avLst/>
          </a:prstGeom>
          <a:noFill/>
          <a:ln/>
        </p:spPr>
        <p:txBody>
          <a:bodyPr wrap="square" lIns="0" tIns="0" rIns="0" bIns="0" rtlCol="0" anchor="t"/>
          <a:lstStyle/>
          <a:p>
            <a:pPr indent="0" marL="0">
              <a:buNone/>
            </a:pPr>
            <a:r>
              <a:rPr lang="en-US" sz="2900" b="1" dirty="0">
                <a:solidFill>
                  <a:srgbClr val="1F3864"/>
                </a:solidFill>
                <a:latin typeface="Georgia" pitchFamily="34" charset="0"/>
                <a:ea typeface="Georgia" pitchFamily="34" charset="-122"/>
                <a:cs typeface="Georgia" pitchFamily="34" charset="-120"/>
              </a:rPr>
              <a:t>Where they shoot changed — how well, didn't</a:t>
            </a:r>
            <a:endParaRPr lang="en-US" sz="2900" dirty="0"/>
          </a:p>
        </p:txBody>
      </p:sp>
      <p:sp>
        <p:nvSpPr>
          <p:cNvPr id="4" name="Text 2"/>
          <p:cNvSpPr/>
          <p:nvPr/>
        </p:nvSpPr>
        <p:spPr>
          <a:xfrm>
            <a:off x="548640" y="1600200"/>
            <a:ext cx="5852160" cy="4297680"/>
          </a:xfrm>
          <a:prstGeom prst="rect">
            <a:avLst/>
          </a:prstGeom>
          <a:noFill/>
          <a:ln/>
        </p:spPr>
        <p:txBody>
          <a:bodyPr wrap="square" lIns="0" tIns="0" rIns="0" bIns="0" rtlCol="0" anchor="t"/>
          <a:lstStyle/>
          <a:p>
            <a:pPr marL="177800" indent="-1778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While shot location changed enormously, FG% by zone barely moved.</a:t>
            </a:r>
            <a:endParaRPr lang="en-US" sz="1500" dirty="0"/>
          </a:p>
          <a:p>
            <a:pPr marL="177800" indent="-1778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The efficiency ranking stayed stable: restricted area most efficient, corners reliable, above-the-break threes the lowest-percentage shot.</a:t>
            </a:r>
            <a:endParaRPr lang="en-US" sz="1500" dirty="0"/>
          </a:p>
          <a:p>
            <a:pPr marL="177800" indent="-1778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Even as 3-point volume exploded, 3-point % ticked down slightly — more players shooting from tougher spots.</a:t>
            </a:r>
            <a:endParaRPr lang="en-US" sz="1500" dirty="0"/>
          </a:p>
          <a:p>
            <a:pPr marL="177800" indent="-177800">
              <a:spcAft>
                <a:spcPts val="800"/>
              </a:spcAft>
              <a:buSzPct val="100000"/>
              <a:buChar char="•"/>
            </a:pPr>
            <a:r>
              <a:rPr lang="en-US" sz="1500" b="1" dirty="0">
                <a:solidFill>
                  <a:srgbClr val="1F3864"/>
                </a:solidFill>
                <a:latin typeface="Calibri" pitchFamily="34" charset="0"/>
                <a:ea typeface="Calibri" pitchFamily="34" charset="-122"/>
                <a:cs typeface="Calibri" pitchFamily="34" charset="-120"/>
              </a:rPr>
              <a:t>The one real gain: shooting at the rim rose ~6 points.</a:t>
            </a:r>
            <a:endParaRPr lang="en-US" sz="1500" dirty="0"/>
          </a:p>
        </p:txBody>
      </p:sp>
      <p:sp>
        <p:nvSpPr>
          <p:cNvPr id="5" name="Shape 3"/>
          <p:cNvSpPr/>
          <p:nvPr/>
        </p:nvSpPr>
        <p:spPr>
          <a:xfrm>
            <a:off x="6675120" y="1554480"/>
            <a:ext cx="5029200" cy="4572000"/>
          </a:xfrm>
          <a:prstGeom prst="rect">
            <a:avLst/>
          </a:prstGeom>
          <a:solidFill>
            <a:srgbClr val="FFFFFF"/>
          </a:solidFill>
          <a:ln w="12700">
            <a:solidFill>
              <a:srgbClr val="DCE6F2"/>
            </a:solidFill>
            <a:prstDash val="solid"/>
          </a:ln>
          <a:effectLst>
            <a:outerShdw sx="100000" sy="100000" kx="0" ky="0" algn="bl" rotWithShape="0" blurRad="76200" dist="25400" dir="8100000">
              <a:srgbClr val="000000">
                <a:alpha val="12000"/>
              </a:srgbClr>
            </a:outerShdw>
          </a:effectLst>
        </p:spPr>
      </p:sp>
      <p:pic>
        <p:nvPicPr>
          <p:cNvPr id="6" name="Image 0" descr="dataviz_charts/rq2_zone_fg_change.png">    </p:cNvPr>
          <p:cNvPicPr>
            <a:picLocks noChangeAspect="1"/>
          </p:cNvPicPr>
          <p:nvPr/>
        </p:nvPicPr>
        <p:blipFill>
          <a:blip r:embed="rId1"/>
          <a:stretch>
            <a:fillRect/>
          </a:stretch>
        </p:blipFill>
        <p:spPr>
          <a:xfrm>
            <a:off x="6766560" y="2398123"/>
            <a:ext cx="4846320" cy="2884714"/>
          </a:xfrm>
          <a:prstGeom prst="rect">
            <a:avLst/>
          </a:prstGeom>
        </p:spPr>
      </p:pic>
      <p:sp>
        <p:nvSpPr>
          <p:cNvPr id="7" name="Text 4"/>
          <p:cNvSpPr/>
          <p:nvPr/>
        </p:nvSpPr>
        <p:spPr>
          <a:xfrm>
            <a:off x="548640" y="6510528"/>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NBA Shot Quality Capstone — DAT 490 (Summer A 2026)</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100" b="1" spc="200" kern="0" dirty="0">
                <a:solidFill>
                  <a:srgbClr val="2E75B6"/>
                </a:solidFill>
                <a:latin typeface="Calibri" pitchFamily="34" charset="0"/>
                <a:ea typeface="Calibri" pitchFamily="34" charset="-122"/>
                <a:cs typeface="Calibri" pitchFamily="34" charset="-120"/>
              </a:rPr>
              <a:t>RQ2 · TAKEAWAY  ·  CALDER</a:t>
            </a:r>
            <a:endParaRPr lang="en-US" sz="1100" dirty="0"/>
          </a:p>
        </p:txBody>
      </p:sp>
      <p:sp>
        <p:nvSpPr>
          <p:cNvPr id="3" name="Text 1"/>
          <p:cNvSpPr/>
          <p:nvPr/>
        </p:nvSpPr>
        <p:spPr>
          <a:xfrm>
            <a:off x="548640" y="566928"/>
            <a:ext cx="11064240" cy="868680"/>
          </a:xfrm>
          <a:prstGeom prst="rect">
            <a:avLst/>
          </a:prstGeom>
          <a:noFill/>
          <a:ln/>
        </p:spPr>
        <p:txBody>
          <a:bodyPr wrap="square" lIns="0" tIns="0" rIns="0" bIns="0" rtlCol="0" anchor="t"/>
          <a:lstStyle/>
          <a:p>
            <a:pPr indent="0" marL="0">
              <a:buNone/>
            </a:pPr>
            <a:r>
              <a:rPr lang="en-US" sz="2900" b="1" dirty="0">
                <a:solidFill>
                  <a:srgbClr val="1F3864"/>
                </a:solidFill>
                <a:latin typeface="Georgia" pitchFamily="34" charset="0"/>
                <a:ea typeface="Georgia" pitchFamily="34" charset="-122"/>
                <a:cs typeface="Georgia" pitchFamily="34" charset="-120"/>
              </a:rPr>
              <a:t>Selection changed — not league-wide shooting</a:t>
            </a:r>
            <a:endParaRPr lang="en-US" sz="2900" dirty="0"/>
          </a:p>
        </p:txBody>
      </p:sp>
      <p:sp>
        <p:nvSpPr>
          <p:cNvPr id="4" name="Shape 2"/>
          <p:cNvSpPr/>
          <p:nvPr/>
        </p:nvSpPr>
        <p:spPr>
          <a:xfrm>
            <a:off x="548640" y="1508760"/>
            <a:ext cx="11064240" cy="2926080"/>
          </a:xfrm>
          <a:prstGeom prst="rect">
            <a:avLst/>
          </a:prstGeom>
          <a:solidFill>
            <a:srgbClr val="FFFFFF"/>
          </a:solidFill>
          <a:ln w="12700">
            <a:solidFill>
              <a:srgbClr val="DCE6F2"/>
            </a:solidFill>
            <a:prstDash val="solid"/>
          </a:ln>
          <a:effectLst>
            <a:outerShdw sx="100000" sy="100000" kx="0" ky="0" algn="bl" rotWithShape="0" blurRad="76200" dist="25400" dir="8100000">
              <a:srgbClr val="000000">
                <a:alpha val="12000"/>
              </a:srgbClr>
            </a:outerShdw>
          </a:effectLst>
        </p:spPr>
      </p:sp>
      <p:pic>
        <p:nvPicPr>
          <p:cNvPr id="5" name="Image 0" descr="dataviz_charts/rq2_court_density.png">    </p:cNvPr>
          <p:cNvPicPr>
            <a:picLocks noChangeAspect="1"/>
          </p:cNvPicPr>
          <p:nvPr/>
        </p:nvPicPr>
        <p:blipFill>
          <a:blip r:embed="rId1"/>
          <a:stretch>
            <a:fillRect/>
          </a:stretch>
        </p:blipFill>
        <p:spPr>
          <a:xfrm>
            <a:off x="640080" y="1608221"/>
            <a:ext cx="10881360" cy="2727158"/>
          </a:xfrm>
          <a:prstGeom prst="rect">
            <a:avLst/>
          </a:prstGeom>
        </p:spPr>
      </p:pic>
      <p:sp>
        <p:nvSpPr>
          <p:cNvPr id="6" name="Shape 3"/>
          <p:cNvSpPr/>
          <p:nvPr/>
        </p:nvSpPr>
        <p:spPr>
          <a:xfrm>
            <a:off x="548640" y="4617720"/>
            <a:ext cx="11091672" cy="1463040"/>
          </a:xfrm>
          <a:prstGeom prst="rect">
            <a:avLst/>
          </a:prstGeom>
          <a:solidFill>
            <a:srgbClr val="F4F7FB"/>
          </a:solidFill>
          <a:ln w="12700">
            <a:solidFill>
              <a:srgbClr val="DCE6F2"/>
            </a:solidFill>
            <a:prstDash val="solid"/>
          </a:ln>
          <a:effectLst>
            <a:outerShdw sx="100000" sy="100000" kx="0" ky="0" algn="bl" rotWithShape="0" blurRad="76200" dist="25400" dir="8100000">
              <a:srgbClr val="000000">
                <a:alpha val="12000"/>
              </a:srgbClr>
            </a:outerShdw>
          </a:effectLst>
        </p:spPr>
      </p:sp>
      <p:sp>
        <p:nvSpPr>
          <p:cNvPr id="7" name="Shape 4"/>
          <p:cNvSpPr/>
          <p:nvPr/>
        </p:nvSpPr>
        <p:spPr>
          <a:xfrm>
            <a:off x="548640" y="4617720"/>
            <a:ext cx="109728" cy="1463040"/>
          </a:xfrm>
          <a:prstGeom prst="rect">
            <a:avLst/>
          </a:prstGeom>
          <a:solidFill>
            <a:srgbClr val="C8102E"/>
          </a:solidFill>
          <a:ln/>
        </p:spPr>
      </p:sp>
      <p:sp>
        <p:nvSpPr>
          <p:cNvPr id="8" name="Text 5"/>
          <p:cNvSpPr/>
          <p:nvPr/>
        </p:nvSpPr>
        <p:spPr>
          <a:xfrm>
            <a:off x="868680" y="4617720"/>
            <a:ext cx="10515600" cy="1463040"/>
          </a:xfrm>
          <a:prstGeom prst="rect">
            <a:avLst/>
          </a:prstGeom>
          <a:noFill/>
          <a:ln/>
        </p:spPr>
        <p:txBody>
          <a:bodyPr wrap="square" lIns="0" tIns="0" rIns="0" bIns="0" rtlCol="0" anchor="ctr"/>
          <a:lstStyle/>
          <a:p>
            <a:pPr indent="0" marL="0">
              <a:buNone/>
            </a:pPr>
            <a:r>
              <a:rPr lang="en-US" sz="1550" dirty="0">
                <a:solidFill>
                  <a:srgbClr val="222222"/>
                </a:solidFill>
                <a:latin typeface="Calibri" pitchFamily="34" charset="0"/>
                <a:ea typeface="Calibri" pitchFamily="34" charset="-122"/>
                <a:cs typeface="Calibri" pitchFamily="34" charset="-120"/>
              </a:rPr>
              <a:t>Across the era, attempts migrate outward — the mid-range hollows out while volume concentrates at the rim and behind the arc — yet the efficiency surface underneath stays stable. The transformation was about shot selection, not getting better everywhere at once. That sets up the modeling.</a:t>
            </a:r>
            <a:endParaRPr lang="en-US" sz="1550" dirty="0"/>
          </a:p>
        </p:txBody>
      </p:sp>
      <p:sp>
        <p:nvSpPr>
          <p:cNvPr id="9" name="Text 6"/>
          <p:cNvSpPr/>
          <p:nvPr/>
        </p:nvSpPr>
        <p:spPr>
          <a:xfrm>
            <a:off x="548640" y="6510528"/>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NBA Shot Quality Capstone — DAT 490 (Summer A 2026)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7315200" y="182880"/>
            <a:ext cx="4663440" cy="6492240"/>
          </a:xfrm>
          <a:prstGeom prst="rect">
            <a:avLst/>
          </a:prstGeom>
          <a:noFill/>
          <a:ln/>
        </p:spPr>
        <p:txBody>
          <a:bodyPr wrap="square" lIns="0" tIns="0" rIns="0" bIns="0" rtlCol="0" anchor="ctr"/>
          <a:lstStyle/>
          <a:p>
            <a:pPr algn="r" indent="0" marL="0">
              <a:buNone/>
            </a:pPr>
            <a:r>
              <a:rPr lang="en-US" sz="30000" b="1" dirty="0">
                <a:solidFill>
                  <a:srgbClr val="2A4A78"/>
                </a:solidFill>
                <a:latin typeface="Georgia" pitchFamily="34" charset="0"/>
                <a:ea typeface="Georgia" pitchFamily="34" charset="-122"/>
                <a:cs typeface="Georgia" pitchFamily="34" charset="-120"/>
              </a:rPr>
              <a:t>4</a:t>
            </a:r>
            <a:endParaRPr lang="en-US" sz="30000" dirty="0"/>
          </a:p>
        </p:txBody>
      </p:sp>
      <p:sp>
        <p:nvSpPr>
          <p:cNvPr id="3" name="Text 1"/>
          <p:cNvSpPr/>
          <p:nvPr/>
        </p:nvSpPr>
        <p:spPr>
          <a:xfrm>
            <a:off x="777240" y="1828800"/>
            <a:ext cx="7315200" cy="365760"/>
          </a:xfrm>
          <a:prstGeom prst="rect">
            <a:avLst/>
          </a:prstGeom>
          <a:noFill/>
          <a:ln/>
        </p:spPr>
        <p:txBody>
          <a:bodyPr wrap="square" lIns="0" tIns="0" rIns="0" bIns="0" rtlCol="0" anchor="ctr"/>
          <a:lstStyle/>
          <a:p>
            <a:pPr indent="0" marL="0">
              <a:buNone/>
            </a:pPr>
            <a:r>
              <a:rPr lang="en-US" sz="1500" b="1" spc="300" kern="0" dirty="0">
                <a:solidFill>
                  <a:srgbClr val="E23B54"/>
                </a:solidFill>
                <a:latin typeface="Calibri" pitchFamily="34" charset="0"/>
                <a:ea typeface="Calibri" pitchFamily="34" charset="-122"/>
                <a:cs typeface="Calibri" pitchFamily="34" charset="-120"/>
              </a:rPr>
              <a:t>SEGMENT 4</a:t>
            </a:r>
            <a:endParaRPr lang="en-US" sz="1500" dirty="0"/>
          </a:p>
        </p:txBody>
      </p:sp>
      <p:sp>
        <p:nvSpPr>
          <p:cNvPr id="4" name="Text 2"/>
          <p:cNvSpPr/>
          <p:nvPr/>
        </p:nvSpPr>
        <p:spPr>
          <a:xfrm>
            <a:off x="777240" y="2240280"/>
            <a:ext cx="7498080" cy="1554480"/>
          </a:xfrm>
          <a:prstGeom prst="rect">
            <a:avLst/>
          </a:prstGeom>
          <a:noFill/>
          <a:ln/>
        </p:spPr>
        <p:txBody>
          <a:bodyPr wrap="square" lIns="0" tIns="0" rIns="0" bIns="0" rtlCol="0" anchor="t"/>
          <a:lstStyle/>
          <a:p>
            <a:pPr indent="0" marL="0">
              <a:buNone/>
            </a:pPr>
            <a:r>
              <a:rPr lang="en-US" sz="4000" b="1" dirty="0">
                <a:solidFill>
                  <a:srgbClr val="FFFFFF"/>
                </a:solidFill>
                <a:latin typeface="Georgia" pitchFamily="34" charset="0"/>
                <a:ea typeface="Georgia" pitchFamily="34" charset="-122"/>
                <a:cs typeface="Georgia" pitchFamily="34" charset="-120"/>
              </a:rPr>
              <a:t>Methodology, Modeling &amp; Results</a:t>
            </a:r>
            <a:endParaRPr lang="en-US" sz="4000" dirty="0"/>
          </a:p>
        </p:txBody>
      </p:sp>
      <p:sp>
        <p:nvSpPr>
          <p:cNvPr id="5" name="Text 3"/>
          <p:cNvSpPr/>
          <p:nvPr/>
        </p:nvSpPr>
        <p:spPr>
          <a:xfrm>
            <a:off x="822960" y="4160520"/>
            <a:ext cx="6400800" cy="82296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Marc Rajesh</a:t>
            </a:r>
            <a:endParaRPr lang="en-US" sz="1900" dirty="0"/>
          </a:p>
          <a:p>
            <a:pPr indent="0" marL="0">
              <a:buNone/>
            </a:pPr>
            <a:r>
              <a:rPr lang="en-US" sz="1600" dirty="0">
                <a:solidFill>
                  <a:srgbClr val="CADCFC"/>
                </a:solidFill>
                <a:latin typeface="Calibri" pitchFamily="34" charset="0"/>
                <a:ea typeface="Calibri" pitchFamily="34" charset="-122"/>
                <a:cs typeface="Calibri" pitchFamily="34" charset="-120"/>
              </a:rPr>
              <a:t>Modeling Lead</a:t>
            </a:r>
            <a:endParaRPr lang="en-US" sz="1900" dirty="0"/>
          </a:p>
        </p:txBody>
      </p:sp>
      <p:sp>
        <p:nvSpPr>
          <p:cNvPr id="6" name="Shape 4"/>
          <p:cNvSpPr/>
          <p:nvPr/>
        </p:nvSpPr>
        <p:spPr>
          <a:xfrm>
            <a:off x="822960" y="5074920"/>
            <a:ext cx="1737360" cy="502920"/>
          </a:xfrm>
          <a:prstGeom prst="roundRect">
            <a:avLst>
              <a:gd name="adj" fmla="val 14545"/>
            </a:avLst>
          </a:prstGeom>
          <a:solidFill>
            <a:srgbClr val="C8102E"/>
          </a:solidFill>
          <a:ln/>
        </p:spPr>
      </p:sp>
      <p:sp>
        <p:nvSpPr>
          <p:cNvPr id="7" name="Text 5"/>
          <p:cNvSpPr/>
          <p:nvPr/>
        </p:nvSpPr>
        <p:spPr>
          <a:xfrm>
            <a:off x="822960" y="5074920"/>
            <a:ext cx="173736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  ~5 min</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100" b="1" spc="200" kern="0" dirty="0">
                <a:solidFill>
                  <a:srgbClr val="2E75B6"/>
                </a:solidFill>
                <a:latin typeface="Calibri" pitchFamily="34" charset="0"/>
                <a:ea typeface="Calibri" pitchFamily="34" charset="-122"/>
                <a:cs typeface="Calibri" pitchFamily="34" charset="-120"/>
              </a:rPr>
              <a:t>THE SHOT-SUCCESS MODEL  ·  MARC</a:t>
            </a:r>
            <a:endParaRPr lang="en-US" sz="1100" dirty="0"/>
          </a:p>
        </p:txBody>
      </p:sp>
      <p:sp>
        <p:nvSpPr>
          <p:cNvPr id="3" name="Text 1"/>
          <p:cNvSpPr/>
          <p:nvPr/>
        </p:nvSpPr>
        <p:spPr>
          <a:xfrm>
            <a:off x="548640" y="566928"/>
            <a:ext cx="11064240" cy="868680"/>
          </a:xfrm>
          <a:prstGeom prst="rect">
            <a:avLst/>
          </a:prstGeom>
          <a:noFill/>
          <a:ln/>
        </p:spPr>
        <p:txBody>
          <a:bodyPr wrap="square" lIns="0" tIns="0" rIns="0" bIns="0" rtlCol="0" anchor="t"/>
          <a:lstStyle/>
          <a:p>
            <a:pPr indent="0" marL="0">
              <a:buNone/>
            </a:pPr>
            <a:r>
              <a:rPr lang="en-US" sz="2900" b="1" dirty="0">
                <a:solidFill>
                  <a:srgbClr val="1F3864"/>
                </a:solidFill>
                <a:latin typeface="Georgia" pitchFamily="34" charset="0"/>
                <a:ea typeface="Georgia" pitchFamily="34" charset="-122"/>
                <a:cs typeface="Georgia" pitchFamily="34" charset="-120"/>
              </a:rPr>
              <a:t>Logistic baseline → gradient-boosted trees</a:t>
            </a:r>
            <a:endParaRPr lang="en-US" sz="2900" dirty="0"/>
          </a:p>
        </p:txBody>
      </p:sp>
      <p:sp>
        <p:nvSpPr>
          <p:cNvPr id="4" name="Text 2"/>
          <p:cNvSpPr/>
          <p:nvPr/>
        </p:nvSpPr>
        <p:spPr>
          <a:xfrm>
            <a:off x="548640" y="1600200"/>
            <a:ext cx="5852160" cy="4297680"/>
          </a:xfrm>
          <a:prstGeom prst="rect">
            <a:avLst/>
          </a:prstGeom>
          <a:noFill/>
          <a:ln/>
        </p:spPr>
        <p:txBody>
          <a:bodyPr wrap="square" lIns="0" tIns="0" rIns="0" bIns="0" rtlCol="0" anchor="t"/>
          <a:lstStyle/>
          <a:p>
            <a:pPr marL="177800" indent="-1778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One model predicts whether a single shot goes in, given its context — trained on 2014-15 (the season with tracking features).</a:t>
            </a:r>
            <a:endParaRPr lang="en-US" sz="1500" dirty="0"/>
          </a:p>
          <a:p>
            <a:pPr marL="177800" indent="-177800">
              <a:spcAft>
                <a:spcPts val="600"/>
              </a:spcAft>
              <a:buSzPct val="100000"/>
              <a:buChar char="•"/>
            </a:pPr>
            <a:r>
              <a:rPr lang="en-US" sz="1500" dirty="0">
                <a:solidFill>
                  <a:srgbClr val="222222"/>
                </a:solidFill>
                <a:latin typeface="Calibri" pitchFamily="34" charset="0"/>
                <a:ea typeface="Calibri" pitchFamily="34" charset="-122"/>
                <a:cs typeface="Calibri" pitchFamily="34" charset="-120"/>
              </a:rPr>
              <a:t>Logistic regression baseline — interpretable; ~61% accuracy, and coefficients made basketball sense (distance hurts, space helps).</a:t>
            </a:r>
            <a:endParaRPr lang="en-US" sz="1500" dirty="0"/>
          </a:p>
          <a:p>
            <a:pPr marL="177800" indent="-177800">
              <a:spcAft>
                <a:spcPts val="600"/>
              </a:spcAft>
              <a:buSzPct val="100000"/>
              <a:buChar char="•"/>
            </a:pPr>
            <a:r>
              <a:rPr lang="en-US" sz="1500" dirty="0">
                <a:solidFill>
                  <a:srgbClr val="222222"/>
                </a:solidFill>
                <a:latin typeface="Calibri" pitchFamily="34" charset="0"/>
                <a:ea typeface="Calibri" pitchFamily="34" charset="-122"/>
                <a:cs typeface="Calibri" pitchFamily="34" charset="-120"/>
              </a:rPr>
              <a:t>XGBoost — captures interactions the linear model can't (space × distance × shot clock).</a:t>
            </a:r>
            <a:endParaRPr lang="en-US" sz="1500" dirty="0"/>
          </a:p>
          <a:p>
            <a:pPr marL="177800" indent="-177800">
              <a:spcAft>
                <a:spcPts val="800"/>
              </a:spcAft>
              <a:buSzPct val="100000"/>
              <a:buChar char="•"/>
            </a:pPr>
            <a:r>
              <a:rPr lang="en-US" sz="1500" b="1" dirty="0">
                <a:solidFill>
                  <a:srgbClr val="1F3864"/>
                </a:solidFill>
                <a:latin typeface="Calibri" pitchFamily="34" charset="0"/>
                <a:ea typeface="Calibri" pitchFamily="34" charset="-122"/>
                <a:cs typeface="Calibri" pitchFamily="34" charset="-120"/>
              </a:rPr>
              <a:t>We kept features simple and interpretable rather than chasing a marginally better score.</a:t>
            </a:r>
            <a:endParaRPr lang="en-US" sz="1500" dirty="0"/>
          </a:p>
        </p:txBody>
      </p:sp>
      <p:sp>
        <p:nvSpPr>
          <p:cNvPr id="5" name="Shape 3"/>
          <p:cNvSpPr/>
          <p:nvPr/>
        </p:nvSpPr>
        <p:spPr>
          <a:xfrm>
            <a:off x="6675120" y="1463040"/>
            <a:ext cx="5029200" cy="3017520"/>
          </a:xfrm>
          <a:prstGeom prst="rect">
            <a:avLst/>
          </a:prstGeom>
          <a:solidFill>
            <a:srgbClr val="FFFFFF"/>
          </a:solidFill>
          <a:ln w="12700">
            <a:solidFill>
              <a:srgbClr val="DCE6F2"/>
            </a:solidFill>
            <a:prstDash val="solid"/>
          </a:ln>
          <a:effectLst>
            <a:outerShdw sx="100000" sy="100000" kx="0" ky="0" algn="bl" rotWithShape="0" blurRad="76200" dist="25400" dir="8100000">
              <a:srgbClr val="000000">
                <a:alpha val="12000"/>
              </a:srgbClr>
            </a:outerShdw>
          </a:effectLst>
        </p:spPr>
      </p:sp>
      <p:pic>
        <p:nvPicPr>
          <p:cNvPr id="6" name="Image 0" descr="dataviz_charts/model_performance.png">    </p:cNvPr>
          <p:cNvPicPr>
            <a:picLocks noChangeAspect="1"/>
          </p:cNvPicPr>
          <p:nvPr/>
        </p:nvPicPr>
        <p:blipFill>
          <a:blip r:embed="rId1"/>
          <a:stretch>
            <a:fillRect/>
          </a:stretch>
        </p:blipFill>
        <p:spPr>
          <a:xfrm>
            <a:off x="6907835" y="1554480"/>
            <a:ext cx="4563770" cy="2834640"/>
          </a:xfrm>
          <a:prstGeom prst="rect">
            <a:avLst/>
          </a:prstGeom>
        </p:spPr>
      </p:pic>
      <p:sp>
        <p:nvSpPr>
          <p:cNvPr id="7" name="Shape 4"/>
          <p:cNvSpPr/>
          <p:nvPr/>
        </p:nvSpPr>
        <p:spPr>
          <a:xfrm>
            <a:off x="6766560" y="4572000"/>
            <a:ext cx="4846320" cy="1371600"/>
          </a:xfrm>
          <a:prstGeom prst="rect">
            <a:avLst/>
          </a:prstGeom>
          <a:solidFill>
            <a:srgbClr val="F4F7FB"/>
          </a:solidFill>
          <a:ln w="12700">
            <a:solidFill>
              <a:srgbClr val="DCE6F2"/>
            </a:solidFill>
            <a:prstDash val="solid"/>
          </a:ln>
          <a:effectLst>
            <a:outerShdw sx="100000" sy="100000" kx="0" ky="0" algn="bl" rotWithShape="0" blurRad="76200" dist="25400" dir="8100000">
              <a:srgbClr val="000000">
                <a:alpha val="12000"/>
              </a:srgbClr>
            </a:outerShdw>
          </a:effectLst>
        </p:spPr>
      </p:sp>
      <p:sp>
        <p:nvSpPr>
          <p:cNvPr id="8" name="Text 5"/>
          <p:cNvSpPr/>
          <p:nvPr/>
        </p:nvSpPr>
        <p:spPr>
          <a:xfrm>
            <a:off x="6858000" y="4681728"/>
            <a:ext cx="4663440" cy="603504"/>
          </a:xfrm>
          <a:prstGeom prst="rect">
            <a:avLst/>
          </a:prstGeom>
          <a:noFill/>
          <a:ln/>
        </p:spPr>
        <p:txBody>
          <a:bodyPr wrap="square" lIns="0" tIns="0" rIns="0" bIns="0" rtlCol="0" anchor="ctr"/>
          <a:lstStyle/>
          <a:p>
            <a:pPr algn="ctr" indent="0" marL="0">
              <a:buNone/>
            </a:pPr>
            <a:r>
              <a:rPr lang="en-US" sz="2600" b="1" dirty="0">
                <a:solidFill>
                  <a:srgbClr val="C8102E"/>
                </a:solidFill>
                <a:latin typeface="Georgia" pitchFamily="34" charset="0"/>
                <a:ea typeface="Georgia" pitchFamily="34" charset="-122"/>
                <a:cs typeface="Georgia" pitchFamily="34" charset="-120"/>
              </a:rPr>
              <a:t>61.9% acc  ·  0.644 AUC</a:t>
            </a:r>
            <a:endParaRPr lang="en-US" sz="2600" dirty="0"/>
          </a:p>
        </p:txBody>
      </p:sp>
      <p:sp>
        <p:nvSpPr>
          <p:cNvPr id="9" name="Text 6"/>
          <p:cNvSpPr/>
          <p:nvPr/>
        </p:nvSpPr>
        <p:spPr>
          <a:xfrm>
            <a:off x="6876288" y="5257800"/>
            <a:ext cx="4626864" cy="630936"/>
          </a:xfrm>
          <a:prstGeom prst="rect">
            <a:avLst/>
          </a:prstGeom>
          <a:noFill/>
          <a:ln/>
        </p:spPr>
        <p:txBody>
          <a:bodyPr wrap="square" lIns="0" tIns="0" rIns="0" bIns="0" rtlCol="0" anchor="t"/>
          <a:lstStyle/>
          <a:p>
            <a:pPr algn="ctr" indent="0" marL="0">
              <a:buNone/>
            </a:pPr>
            <a:r>
              <a:rPr lang="en-US" sz="1200" dirty="0">
                <a:solidFill>
                  <a:srgbClr val="222222"/>
                </a:solidFill>
                <a:latin typeface="Calibri" pitchFamily="34" charset="0"/>
                <a:ea typeface="Calibri" pitchFamily="34" charset="-122"/>
                <a:cs typeface="Calibri" pitchFamily="34" charset="-120"/>
              </a:rPr>
              <a:t>XGBoost, vs a 54.8% always-guess-miss baseline</a:t>
            </a:r>
            <a:endParaRPr lang="en-US" sz="1200" dirty="0"/>
          </a:p>
        </p:txBody>
      </p:sp>
      <p:sp>
        <p:nvSpPr>
          <p:cNvPr id="10" name="Text 7"/>
          <p:cNvSpPr/>
          <p:nvPr/>
        </p:nvSpPr>
        <p:spPr>
          <a:xfrm>
            <a:off x="548640" y="6510528"/>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NBA Shot Quality Capstone — DAT 490 (Summer A 2026)</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100" b="1" spc="200" kern="0" dirty="0">
                <a:solidFill>
                  <a:srgbClr val="2E75B6"/>
                </a:solidFill>
                <a:latin typeface="Calibri" pitchFamily="34" charset="0"/>
                <a:ea typeface="Calibri" pitchFamily="34" charset="-122"/>
                <a:cs typeface="Calibri" pitchFamily="34" charset="-120"/>
              </a:rPr>
              <a:t>RQ1 · OVERPERFORMERS  ·  MARC</a:t>
            </a:r>
            <a:endParaRPr lang="en-US" sz="1100" dirty="0"/>
          </a:p>
        </p:txBody>
      </p:sp>
      <p:sp>
        <p:nvSpPr>
          <p:cNvPr id="3" name="Text 1"/>
          <p:cNvSpPr/>
          <p:nvPr/>
        </p:nvSpPr>
        <p:spPr>
          <a:xfrm>
            <a:off x="548640" y="566928"/>
            <a:ext cx="11064240" cy="868680"/>
          </a:xfrm>
          <a:prstGeom prst="rect">
            <a:avLst/>
          </a:prstGeom>
          <a:noFill/>
          <a:ln/>
        </p:spPr>
        <p:txBody>
          <a:bodyPr wrap="square" lIns="0" tIns="0" rIns="0" bIns="0" rtlCol="0" anchor="t"/>
          <a:lstStyle/>
          <a:p>
            <a:pPr indent="0" marL="0">
              <a:buNone/>
            </a:pPr>
            <a:r>
              <a:rPr lang="en-US" sz="2900" b="1" dirty="0">
                <a:solidFill>
                  <a:srgbClr val="1F3864"/>
                </a:solidFill>
                <a:latin typeface="Georgia" pitchFamily="34" charset="0"/>
                <a:ea typeface="Georgia" pitchFamily="34" charset="-122"/>
                <a:cs typeface="Georgia" pitchFamily="34" charset="-120"/>
              </a:rPr>
              <a:t>Residuals: who beats their expected shots</a:t>
            </a:r>
            <a:endParaRPr lang="en-US" sz="2900" dirty="0"/>
          </a:p>
        </p:txBody>
      </p:sp>
      <p:sp>
        <p:nvSpPr>
          <p:cNvPr id="4" name="Text 2"/>
          <p:cNvSpPr/>
          <p:nvPr/>
        </p:nvSpPr>
        <p:spPr>
          <a:xfrm>
            <a:off x="548640" y="1600200"/>
            <a:ext cx="5852160" cy="4297680"/>
          </a:xfrm>
          <a:prstGeom prst="rect">
            <a:avLst/>
          </a:prstGeom>
          <a:noFill/>
          <a:ln/>
        </p:spPr>
        <p:txBody>
          <a:bodyPr wrap="square" lIns="0" tIns="0" rIns="0" bIns="0" rtlCol="0" anchor="t"/>
          <a:lstStyle/>
          <a:p>
            <a:pPr marL="177800" indent="-1778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We scored every shot and computed residuals — actual makes minus expected makes.</a:t>
            </a:r>
            <a:endParaRPr lang="en-US" sz="1500" dirty="0"/>
          </a:p>
          <a:p>
            <a:pPr marL="177800" indent="-1778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A consistently positive residual = a player beating the difficulty of the shots they take.</a:t>
            </a:r>
            <a:endParaRPr lang="en-US" sz="1500" dirty="0"/>
          </a:p>
          <a:p>
            <a:pPr marL="177800" indent="-177800">
              <a:spcAft>
                <a:spcPts val="400"/>
              </a:spcAft>
              <a:buSzPct val="100000"/>
              <a:buChar char="•"/>
            </a:pPr>
            <a:r>
              <a:rPr lang="en-US" sz="1500" b="1" dirty="0">
                <a:solidFill>
                  <a:srgbClr val="1F3864"/>
                </a:solidFill>
                <a:latin typeface="Calibri" pitchFamily="34" charset="0"/>
                <a:ea typeface="Calibri" pitchFamily="34" charset="-122"/>
                <a:cs typeface="Calibri" pitchFamily="34" charset="-120"/>
              </a:rPr>
              <a:t>Top 2014-15 overperformers:</a:t>
            </a:r>
            <a:endParaRPr lang="en-US" sz="1500" dirty="0"/>
          </a:p>
          <a:p>
            <a:pPr lvl="1" marL="355600" indent="-177800">
              <a:spcAft>
                <a:spcPts val="300"/>
              </a:spcAft>
              <a:buSzPct val="100000"/>
              <a:buChar char="•"/>
            </a:pPr>
            <a:r>
              <a:rPr lang="en-US" sz="1500" dirty="0">
                <a:solidFill>
                  <a:srgbClr val="222222"/>
                </a:solidFill>
                <a:latin typeface="Calibri" pitchFamily="34" charset="0"/>
                <a:ea typeface="Calibri" pitchFamily="34" charset="-122"/>
                <a:cs typeface="Calibri" pitchFamily="34" charset="-120"/>
              </a:rPr>
              <a:t>Chris Paul  +51 makes above expected</a:t>
            </a:r>
            <a:endParaRPr lang="en-US" sz="1500" dirty="0"/>
          </a:p>
          <a:p>
            <a:pPr lvl="1" marL="355600" indent="-177800">
              <a:spcAft>
                <a:spcPts val="300"/>
              </a:spcAft>
              <a:buSzPct val="100000"/>
              <a:buChar char="•"/>
            </a:pPr>
            <a:r>
              <a:rPr lang="en-US" sz="1500" dirty="0">
                <a:solidFill>
                  <a:srgbClr val="222222"/>
                </a:solidFill>
                <a:latin typeface="Calibri" pitchFamily="34" charset="0"/>
                <a:ea typeface="Calibri" pitchFamily="34" charset="-122"/>
                <a:cs typeface="Calibri" pitchFamily="34" charset="-120"/>
              </a:rPr>
              <a:t>Kyle Korver  +9.5% on ~500 shots</a:t>
            </a:r>
            <a:endParaRPr lang="en-US" sz="1500" dirty="0"/>
          </a:p>
          <a:p>
            <a:pPr lvl="1" marL="355600" indent="-1778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Team: Clippers led at +78</a:t>
            </a:r>
            <a:endParaRPr lang="en-US" sz="1500" dirty="0"/>
          </a:p>
        </p:txBody>
      </p:sp>
      <p:sp>
        <p:nvSpPr>
          <p:cNvPr id="5" name="Shape 3"/>
          <p:cNvSpPr/>
          <p:nvPr/>
        </p:nvSpPr>
        <p:spPr>
          <a:xfrm>
            <a:off x="6766560" y="1554480"/>
            <a:ext cx="4937760" cy="4480560"/>
          </a:xfrm>
          <a:prstGeom prst="rect">
            <a:avLst/>
          </a:prstGeom>
          <a:solidFill>
            <a:srgbClr val="FFFFFF"/>
          </a:solidFill>
          <a:ln w="12700">
            <a:solidFill>
              <a:srgbClr val="DCE6F2"/>
            </a:solidFill>
            <a:prstDash val="solid"/>
          </a:ln>
          <a:effectLst>
            <a:outerShdw sx="100000" sy="100000" kx="0" ky="0" algn="bl" rotWithShape="0" blurRad="76200" dist="25400" dir="8100000">
              <a:srgbClr val="000000">
                <a:alpha val="12000"/>
              </a:srgbClr>
            </a:outerShdw>
          </a:effectLst>
        </p:spPr>
      </p:sp>
      <p:pic>
        <p:nvPicPr>
          <p:cNvPr id="6" name="Image 0" descr="dataviz_charts/rq1_player_overperformers.png">    </p:cNvPr>
          <p:cNvPicPr>
            <a:picLocks noChangeAspect="1"/>
          </p:cNvPicPr>
          <p:nvPr/>
        </p:nvPicPr>
        <p:blipFill>
          <a:blip r:embed="rId1"/>
          <a:stretch>
            <a:fillRect/>
          </a:stretch>
        </p:blipFill>
        <p:spPr>
          <a:xfrm>
            <a:off x="6858000" y="2230655"/>
            <a:ext cx="4754880" cy="3128211"/>
          </a:xfrm>
          <a:prstGeom prst="rect">
            <a:avLst/>
          </a:prstGeom>
        </p:spPr>
      </p:pic>
      <p:sp>
        <p:nvSpPr>
          <p:cNvPr id="7" name="Text 4"/>
          <p:cNvSpPr/>
          <p:nvPr/>
        </p:nvSpPr>
        <p:spPr>
          <a:xfrm>
            <a:off x="548640" y="6510528"/>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NBA Shot Quality Capstone — DAT 490 (Summer A 2026)</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100" b="1" spc="200" kern="0" dirty="0">
                <a:solidFill>
                  <a:srgbClr val="2E75B6"/>
                </a:solidFill>
                <a:latin typeface="Calibri" pitchFamily="34" charset="0"/>
                <a:ea typeface="Calibri" pitchFamily="34" charset="-122"/>
                <a:cs typeface="Calibri" pitchFamily="34" charset="-120"/>
              </a:rPr>
              <a:t>RQ1 · WHAT DISTINGUISHES THEM  ·  MARC</a:t>
            </a:r>
            <a:endParaRPr lang="en-US" sz="1100" dirty="0"/>
          </a:p>
        </p:txBody>
      </p:sp>
      <p:sp>
        <p:nvSpPr>
          <p:cNvPr id="3" name="Text 1"/>
          <p:cNvSpPr/>
          <p:nvPr/>
        </p:nvSpPr>
        <p:spPr>
          <a:xfrm>
            <a:off x="548640" y="566928"/>
            <a:ext cx="11064240" cy="868680"/>
          </a:xfrm>
          <a:prstGeom prst="rect">
            <a:avLst/>
          </a:prstGeom>
          <a:noFill/>
          <a:ln/>
        </p:spPr>
        <p:txBody>
          <a:bodyPr wrap="square" lIns="0" tIns="0" rIns="0" bIns="0" rtlCol="0" anchor="t"/>
          <a:lstStyle/>
          <a:p>
            <a:pPr indent="0" marL="0">
              <a:buNone/>
            </a:pPr>
            <a:r>
              <a:rPr lang="en-US" sz="2900" b="1" dirty="0">
                <a:solidFill>
                  <a:srgbClr val="1F3864"/>
                </a:solidFill>
                <a:latin typeface="Georgia" pitchFamily="34" charset="0"/>
                <a:ea typeface="Georgia" pitchFamily="34" charset="-122"/>
                <a:cs typeface="Georgia" pitchFamily="34" charset="-120"/>
              </a:rPr>
              <a:t>K-means → four overperformer archetypes</a:t>
            </a:r>
            <a:endParaRPr lang="en-US" sz="2900" dirty="0"/>
          </a:p>
        </p:txBody>
      </p:sp>
      <p:sp>
        <p:nvSpPr>
          <p:cNvPr id="4" name="Shape 2"/>
          <p:cNvSpPr/>
          <p:nvPr/>
        </p:nvSpPr>
        <p:spPr>
          <a:xfrm>
            <a:off x="548640" y="1783080"/>
            <a:ext cx="5550408" cy="2011680"/>
          </a:xfrm>
          <a:prstGeom prst="rect">
            <a:avLst/>
          </a:prstGeom>
          <a:solidFill>
            <a:srgbClr val="F4F7FB"/>
          </a:solidFill>
          <a:ln w="12700">
            <a:solidFill>
              <a:srgbClr val="DCE6F2"/>
            </a:solidFill>
            <a:prstDash val="solid"/>
          </a:ln>
          <a:effectLst>
            <a:outerShdw sx="100000" sy="100000" kx="0" ky="0" algn="bl" rotWithShape="0" blurRad="76200" dist="25400" dir="8100000">
              <a:srgbClr val="000000">
                <a:alpha val="12000"/>
              </a:srgbClr>
            </a:outerShdw>
          </a:effectLst>
        </p:spPr>
      </p:sp>
      <p:sp>
        <p:nvSpPr>
          <p:cNvPr id="5" name="Shape 3"/>
          <p:cNvSpPr/>
          <p:nvPr/>
        </p:nvSpPr>
        <p:spPr>
          <a:xfrm>
            <a:off x="548640" y="1783080"/>
            <a:ext cx="5550408" cy="109728"/>
          </a:xfrm>
          <a:prstGeom prst="rect">
            <a:avLst/>
          </a:prstGeom>
          <a:solidFill>
            <a:srgbClr val="2E75B6"/>
          </a:solidFill>
          <a:ln/>
        </p:spPr>
      </p:sp>
      <p:sp>
        <p:nvSpPr>
          <p:cNvPr id="6" name="Text 4"/>
          <p:cNvSpPr/>
          <p:nvPr/>
        </p:nvSpPr>
        <p:spPr>
          <a:xfrm>
            <a:off x="777240" y="1984248"/>
            <a:ext cx="3840480" cy="548640"/>
          </a:xfrm>
          <a:prstGeom prst="rect">
            <a:avLst/>
          </a:prstGeom>
          <a:noFill/>
          <a:ln/>
        </p:spPr>
        <p:txBody>
          <a:bodyPr wrap="square" lIns="0" tIns="0" rIns="0" bIns="0" rtlCol="0" anchor="ctr"/>
          <a:lstStyle/>
          <a:p>
            <a:pPr indent="0" marL="0">
              <a:buNone/>
            </a:pPr>
            <a:r>
              <a:rPr lang="en-US" sz="2000" b="1" dirty="0">
                <a:solidFill>
                  <a:srgbClr val="1F3864"/>
                </a:solidFill>
                <a:latin typeface="Georgia" pitchFamily="34" charset="0"/>
                <a:ea typeface="Georgia" pitchFamily="34" charset="-122"/>
                <a:cs typeface="Georgia" pitchFamily="34" charset="-120"/>
              </a:rPr>
              <a:t>On-Ball Creators</a:t>
            </a:r>
            <a:endParaRPr lang="en-US" sz="2000" dirty="0"/>
          </a:p>
        </p:txBody>
      </p:sp>
      <p:sp>
        <p:nvSpPr>
          <p:cNvPr id="7" name="Text 5"/>
          <p:cNvSpPr/>
          <p:nvPr/>
        </p:nvSpPr>
        <p:spPr>
          <a:xfrm>
            <a:off x="4206240" y="2020824"/>
            <a:ext cx="1691640" cy="457200"/>
          </a:xfrm>
          <a:prstGeom prst="rect">
            <a:avLst/>
          </a:prstGeom>
          <a:noFill/>
          <a:ln/>
        </p:spPr>
        <p:txBody>
          <a:bodyPr wrap="square" lIns="0" tIns="0" rIns="0" bIns="0" rtlCol="0" anchor="ctr"/>
          <a:lstStyle/>
          <a:p>
            <a:pPr algn="r" indent="0" marL="0">
              <a:buNone/>
            </a:pPr>
            <a:r>
              <a:rPr lang="en-US" sz="1500" b="1" dirty="0">
                <a:solidFill>
                  <a:srgbClr val="C8102E"/>
                </a:solidFill>
                <a:latin typeface="Calibri" pitchFamily="34" charset="0"/>
                <a:ea typeface="Calibri" pitchFamily="34" charset="-122"/>
                <a:cs typeface="Calibri" pitchFamily="34" charset="-120"/>
              </a:rPr>
              <a:t>37 players</a:t>
            </a:r>
            <a:endParaRPr lang="en-US" sz="1500" dirty="0"/>
          </a:p>
        </p:txBody>
      </p:sp>
      <p:sp>
        <p:nvSpPr>
          <p:cNvPr id="8" name="Text 6"/>
          <p:cNvSpPr/>
          <p:nvPr/>
        </p:nvSpPr>
        <p:spPr>
          <a:xfrm>
            <a:off x="777240" y="2697480"/>
            <a:ext cx="5120640" cy="960120"/>
          </a:xfrm>
          <a:prstGeom prst="rect">
            <a:avLst/>
          </a:prstGeom>
          <a:noFill/>
          <a:ln/>
        </p:spPr>
        <p:txBody>
          <a:bodyPr wrap="square" lIns="0" tIns="0" rIns="0" bIns="0" rtlCol="0" anchor="t"/>
          <a:lstStyle/>
          <a:p>
            <a:pPr indent="0" marL="0">
              <a:buNone/>
            </a:pPr>
            <a:r>
              <a:rPr lang="en-US" sz="1400" dirty="0">
                <a:solidFill>
                  <a:srgbClr val="222222"/>
                </a:solidFill>
                <a:latin typeface="Calibri" pitchFamily="34" charset="0"/>
                <a:ea typeface="Calibri" pitchFamily="34" charset="-122"/>
                <a:cs typeface="Calibri" pitchFamily="34" charset="-120"/>
              </a:rPr>
              <a:t>Chris Paul, Stephen Curry, Kyrie Irving</a:t>
            </a:r>
            <a:endParaRPr lang="en-US" sz="1400" dirty="0"/>
          </a:p>
        </p:txBody>
      </p:sp>
      <p:sp>
        <p:nvSpPr>
          <p:cNvPr id="9" name="Shape 7"/>
          <p:cNvSpPr/>
          <p:nvPr/>
        </p:nvSpPr>
        <p:spPr>
          <a:xfrm>
            <a:off x="6089904" y="1783080"/>
            <a:ext cx="5550408" cy="2011680"/>
          </a:xfrm>
          <a:prstGeom prst="rect">
            <a:avLst/>
          </a:prstGeom>
          <a:solidFill>
            <a:srgbClr val="F4F7FB"/>
          </a:solidFill>
          <a:ln w="12700">
            <a:solidFill>
              <a:srgbClr val="DCE6F2"/>
            </a:solidFill>
            <a:prstDash val="solid"/>
          </a:ln>
          <a:effectLst>
            <a:outerShdw sx="100000" sy="100000" kx="0" ky="0" algn="bl" rotWithShape="0" blurRad="76200" dist="25400" dir="8100000">
              <a:srgbClr val="000000">
                <a:alpha val="12000"/>
              </a:srgbClr>
            </a:outerShdw>
          </a:effectLst>
        </p:spPr>
      </p:sp>
      <p:sp>
        <p:nvSpPr>
          <p:cNvPr id="10" name="Shape 8"/>
          <p:cNvSpPr/>
          <p:nvPr/>
        </p:nvSpPr>
        <p:spPr>
          <a:xfrm>
            <a:off x="6089904" y="1783080"/>
            <a:ext cx="5550408" cy="109728"/>
          </a:xfrm>
          <a:prstGeom prst="rect">
            <a:avLst/>
          </a:prstGeom>
          <a:solidFill>
            <a:srgbClr val="2E75B6"/>
          </a:solidFill>
          <a:ln/>
        </p:spPr>
      </p:sp>
      <p:sp>
        <p:nvSpPr>
          <p:cNvPr id="11" name="Text 9"/>
          <p:cNvSpPr/>
          <p:nvPr/>
        </p:nvSpPr>
        <p:spPr>
          <a:xfrm>
            <a:off x="6318504" y="1984248"/>
            <a:ext cx="3840480" cy="548640"/>
          </a:xfrm>
          <a:prstGeom prst="rect">
            <a:avLst/>
          </a:prstGeom>
          <a:noFill/>
          <a:ln/>
        </p:spPr>
        <p:txBody>
          <a:bodyPr wrap="square" lIns="0" tIns="0" rIns="0" bIns="0" rtlCol="0" anchor="ctr"/>
          <a:lstStyle/>
          <a:p>
            <a:pPr indent="0" marL="0">
              <a:buNone/>
            </a:pPr>
            <a:r>
              <a:rPr lang="en-US" sz="2000" b="1" dirty="0">
                <a:solidFill>
                  <a:srgbClr val="1F3864"/>
                </a:solidFill>
                <a:latin typeface="Georgia" pitchFamily="34" charset="0"/>
                <a:ea typeface="Georgia" pitchFamily="34" charset="-122"/>
                <a:cs typeface="Georgia" pitchFamily="34" charset="-120"/>
              </a:rPr>
              <a:t>Catch-and-Shoot</a:t>
            </a:r>
            <a:endParaRPr lang="en-US" sz="2000" dirty="0"/>
          </a:p>
        </p:txBody>
      </p:sp>
      <p:sp>
        <p:nvSpPr>
          <p:cNvPr id="12" name="Text 10"/>
          <p:cNvSpPr/>
          <p:nvPr/>
        </p:nvSpPr>
        <p:spPr>
          <a:xfrm>
            <a:off x="9747504" y="2020824"/>
            <a:ext cx="1691640" cy="457200"/>
          </a:xfrm>
          <a:prstGeom prst="rect">
            <a:avLst/>
          </a:prstGeom>
          <a:noFill/>
          <a:ln/>
        </p:spPr>
        <p:txBody>
          <a:bodyPr wrap="square" lIns="0" tIns="0" rIns="0" bIns="0" rtlCol="0" anchor="ctr"/>
          <a:lstStyle/>
          <a:p>
            <a:pPr algn="r" indent="0" marL="0">
              <a:buNone/>
            </a:pPr>
            <a:r>
              <a:rPr lang="en-US" sz="1500" b="1" dirty="0">
                <a:solidFill>
                  <a:srgbClr val="C8102E"/>
                </a:solidFill>
                <a:latin typeface="Calibri" pitchFamily="34" charset="0"/>
                <a:ea typeface="Calibri" pitchFamily="34" charset="-122"/>
                <a:cs typeface="Calibri" pitchFamily="34" charset="-120"/>
              </a:rPr>
              <a:t>36 players</a:t>
            </a:r>
            <a:endParaRPr lang="en-US" sz="1500" dirty="0"/>
          </a:p>
        </p:txBody>
      </p:sp>
      <p:sp>
        <p:nvSpPr>
          <p:cNvPr id="13" name="Text 11"/>
          <p:cNvSpPr/>
          <p:nvPr/>
        </p:nvSpPr>
        <p:spPr>
          <a:xfrm>
            <a:off x="6318504" y="2697480"/>
            <a:ext cx="5120640" cy="960120"/>
          </a:xfrm>
          <a:prstGeom prst="rect">
            <a:avLst/>
          </a:prstGeom>
          <a:noFill/>
          <a:ln/>
        </p:spPr>
        <p:txBody>
          <a:bodyPr wrap="square" lIns="0" tIns="0" rIns="0" bIns="0" rtlCol="0" anchor="t"/>
          <a:lstStyle/>
          <a:p>
            <a:pPr indent="0" marL="0">
              <a:buNone/>
            </a:pPr>
            <a:r>
              <a:rPr lang="en-US" sz="1400" dirty="0">
                <a:solidFill>
                  <a:srgbClr val="222222"/>
                </a:solidFill>
                <a:latin typeface="Calibri" pitchFamily="34" charset="0"/>
                <a:ea typeface="Calibri" pitchFamily="34" charset="-122"/>
                <a:cs typeface="Calibri" pitchFamily="34" charset="-120"/>
              </a:rPr>
              <a:t>Kyle Korver, Klay Thompson, Wesley Matthews</a:t>
            </a:r>
            <a:endParaRPr lang="en-US" sz="1400" dirty="0"/>
          </a:p>
        </p:txBody>
      </p:sp>
      <p:sp>
        <p:nvSpPr>
          <p:cNvPr id="14" name="Shape 12"/>
          <p:cNvSpPr/>
          <p:nvPr/>
        </p:nvSpPr>
        <p:spPr>
          <a:xfrm>
            <a:off x="548640" y="3977640"/>
            <a:ext cx="5550408" cy="2011680"/>
          </a:xfrm>
          <a:prstGeom prst="rect">
            <a:avLst/>
          </a:prstGeom>
          <a:solidFill>
            <a:srgbClr val="F4F7FB"/>
          </a:solidFill>
          <a:ln w="12700">
            <a:solidFill>
              <a:srgbClr val="DCE6F2"/>
            </a:solidFill>
            <a:prstDash val="solid"/>
          </a:ln>
          <a:effectLst>
            <a:outerShdw sx="100000" sy="100000" kx="0" ky="0" algn="bl" rotWithShape="0" blurRad="76200" dist="25400" dir="8100000">
              <a:srgbClr val="000000">
                <a:alpha val="12000"/>
              </a:srgbClr>
            </a:outerShdw>
          </a:effectLst>
        </p:spPr>
      </p:sp>
      <p:sp>
        <p:nvSpPr>
          <p:cNvPr id="15" name="Shape 13"/>
          <p:cNvSpPr/>
          <p:nvPr/>
        </p:nvSpPr>
        <p:spPr>
          <a:xfrm>
            <a:off x="548640" y="3977640"/>
            <a:ext cx="5550408" cy="109728"/>
          </a:xfrm>
          <a:prstGeom prst="rect">
            <a:avLst/>
          </a:prstGeom>
          <a:solidFill>
            <a:srgbClr val="2E75B6"/>
          </a:solidFill>
          <a:ln/>
        </p:spPr>
      </p:sp>
      <p:sp>
        <p:nvSpPr>
          <p:cNvPr id="16" name="Text 14"/>
          <p:cNvSpPr/>
          <p:nvPr/>
        </p:nvSpPr>
        <p:spPr>
          <a:xfrm>
            <a:off x="777240" y="4178808"/>
            <a:ext cx="3840480" cy="548640"/>
          </a:xfrm>
          <a:prstGeom prst="rect">
            <a:avLst/>
          </a:prstGeom>
          <a:noFill/>
          <a:ln/>
        </p:spPr>
        <p:txBody>
          <a:bodyPr wrap="square" lIns="0" tIns="0" rIns="0" bIns="0" rtlCol="0" anchor="ctr"/>
          <a:lstStyle/>
          <a:p>
            <a:pPr indent="0" marL="0">
              <a:buNone/>
            </a:pPr>
            <a:r>
              <a:rPr lang="en-US" sz="2000" b="1" dirty="0">
                <a:solidFill>
                  <a:srgbClr val="1F3864"/>
                </a:solidFill>
                <a:latin typeface="Georgia" pitchFamily="34" charset="0"/>
                <a:ea typeface="Georgia" pitchFamily="34" charset="-122"/>
                <a:cs typeface="Georgia" pitchFamily="34" charset="-120"/>
              </a:rPr>
              <a:t>Interior Finishers</a:t>
            </a:r>
            <a:endParaRPr lang="en-US" sz="2000" dirty="0"/>
          </a:p>
        </p:txBody>
      </p:sp>
      <p:sp>
        <p:nvSpPr>
          <p:cNvPr id="17" name="Text 15"/>
          <p:cNvSpPr/>
          <p:nvPr/>
        </p:nvSpPr>
        <p:spPr>
          <a:xfrm>
            <a:off x="4206240" y="4215384"/>
            <a:ext cx="1691640" cy="457200"/>
          </a:xfrm>
          <a:prstGeom prst="rect">
            <a:avLst/>
          </a:prstGeom>
          <a:noFill/>
          <a:ln/>
        </p:spPr>
        <p:txBody>
          <a:bodyPr wrap="square" lIns="0" tIns="0" rIns="0" bIns="0" rtlCol="0" anchor="ctr"/>
          <a:lstStyle/>
          <a:p>
            <a:pPr algn="r" indent="0" marL="0">
              <a:buNone/>
            </a:pPr>
            <a:r>
              <a:rPr lang="en-US" sz="1500" b="1" dirty="0">
                <a:solidFill>
                  <a:srgbClr val="C8102E"/>
                </a:solidFill>
                <a:latin typeface="Calibri" pitchFamily="34" charset="0"/>
                <a:ea typeface="Calibri" pitchFamily="34" charset="-122"/>
                <a:cs typeface="Calibri" pitchFamily="34" charset="-120"/>
              </a:rPr>
              <a:t>29 players</a:t>
            </a:r>
            <a:endParaRPr lang="en-US" sz="1500" dirty="0"/>
          </a:p>
        </p:txBody>
      </p:sp>
      <p:sp>
        <p:nvSpPr>
          <p:cNvPr id="18" name="Text 16"/>
          <p:cNvSpPr/>
          <p:nvPr/>
        </p:nvSpPr>
        <p:spPr>
          <a:xfrm>
            <a:off x="777240" y="4892040"/>
            <a:ext cx="5120640" cy="960120"/>
          </a:xfrm>
          <a:prstGeom prst="rect">
            <a:avLst/>
          </a:prstGeom>
          <a:noFill/>
          <a:ln/>
        </p:spPr>
        <p:txBody>
          <a:bodyPr wrap="square" lIns="0" tIns="0" rIns="0" bIns="0" rtlCol="0" anchor="t"/>
          <a:lstStyle/>
          <a:p>
            <a:pPr indent="0" marL="0">
              <a:buNone/>
            </a:pPr>
            <a:r>
              <a:rPr lang="en-US" sz="1400" dirty="0">
                <a:solidFill>
                  <a:srgbClr val="222222"/>
                </a:solidFill>
                <a:latin typeface="Calibri" pitchFamily="34" charset="0"/>
                <a:ea typeface="Calibri" pitchFamily="34" charset="-122"/>
                <a:cs typeface="Calibri" pitchFamily="34" charset="-120"/>
              </a:rPr>
              <a:t>Anthony Davis, DeAndre Jordan, Nikola Vučević</a:t>
            </a:r>
            <a:endParaRPr lang="en-US" sz="1400" dirty="0"/>
          </a:p>
        </p:txBody>
      </p:sp>
      <p:sp>
        <p:nvSpPr>
          <p:cNvPr id="19" name="Shape 17"/>
          <p:cNvSpPr/>
          <p:nvPr/>
        </p:nvSpPr>
        <p:spPr>
          <a:xfrm>
            <a:off x="6089904" y="3977640"/>
            <a:ext cx="5550408" cy="2011680"/>
          </a:xfrm>
          <a:prstGeom prst="rect">
            <a:avLst/>
          </a:prstGeom>
          <a:solidFill>
            <a:srgbClr val="F4F7FB"/>
          </a:solidFill>
          <a:ln w="12700">
            <a:solidFill>
              <a:srgbClr val="DCE6F2"/>
            </a:solidFill>
            <a:prstDash val="solid"/>
          </a:ln>
          <a:effectLst>
            <a:outerShdw sx="100000" sy="100000" kx="0" ky="0" algn="bl" rotWithShape="0" blurRad="76200" dist="25400" dir="8100000">
              <a:srgbClr val="000000">
                <a:alpha val="12000"/>
              </a:srgbClr>
            </a:outerShdw>
          </a:effectLst>
        </p:spPr>
      </p:sp>
      <p:sp>
        <p:nvSpPr>
          <p:cNvPr id="20" name="Shape 18"/>
          <p:cNvSpPr/>
          <p:nvPr/>
        </p:nvSpPr>
        <p:spPr>
          <a:xfrm>
            <a:off x="6089904" y="3977640"/>
            <a:ext cx="5550408" cy="109728"/>
          </a:xfrm>
          <a:prstGeom prst="rect">
            <a:avLst/>
          </a:prstGeom>
          <a:solidFill>
            <a:srgbClr val="2E75B6"/>
          </a:solidFill>
          <a:ln/>
        </p:spPr>
      </p:sp>
      <p:sp>
        <p:nvSpPr>
          <p:cNvPr id="21" name="Text 19"/>
          <p:cNvSpPr/>
          <p:nvPr/>
        </p:nvSpPr>
        <p:spPr>
          <a:xfrm>
            <a:off x="6318504" y="4178808"/>
            <a:ext cx="3840480" cy="548640"/>
          </a:xfrm>
          <a:prstGeom prst="rect">
            <a:avLst/>
          </a:prstGeom>
          <a:noFill/>
          <a:ln/>
        </p:spPr>
        <p:txBody>
          <a:bodyPr wrap="square" lIns="0" tIns="0" rIns="0" bIns="0" rtlCol="0" anchor="ctr"/>
          <a:lstStyle/>
          <a:p>
            <a:pPr indent="0" marL="0">
              <a:buNone/>
            </a:pPr>
            <a:r>
              <a:rPr lang="en-US" sz="2000" b="1" dirty="0">
                <a:solidFill>
                  <a:srgbClr val="1F3864"/>
                </a:solidFill>
                <a:latin typeface="Georgia" pitchFamily="34" charset="0"/>
                <a:ea typeface="Georgia" pitchFamily="34" charset="-122"/>
                <a:cs typeface="Georgia" pitchFamily="34" charset="-120"/>
              </a:rPr>
              <a:t>Mid-Range Scorers</a:t>
            </a:r>
            <a:endParaRPr lang="en-US" sz="2000" dirty="0"/>
          </a:p>
        </p:txBody>
      </p:sp>
      <p:sp>
        <p:nvSpPr>
          <p:cNvPr id="22" name="Text 20"/>
          <p:cNvSpPr/>
          <p:nvPr/>
        </p:nvSpPr>
        <p:spPr>
          <a:xfrm>
            <a:off x="9747504" y="4215384"/>
            <a:ext cx="1691640" cy="457200"/>
          </a:xfrm>
          <a:prstGeom prst="rect">
            <a:avLst/>
          </a:prstGeom>
          <a:noFill/>
          <a:ln/>
        </p:spPr>
        <p:txBody>
          <a:bodyPr wrap="square" lIns="0" tIns="0" rIns="0" bIns="0" rtlCol="0" anchor="ctr"/>
          <a:lstStyle/>
          <a:p>
            <a:pPr algn="r" indent="0" marL="0">
              <a:buNone/>
            </a:pPr>
            <a:r>
              <a:rPr lang="en-US" sz="1500" b="1" dirty="0">
                <a:solidFill>
                  <a:srgbClr val="C8102E"/>
                </a:solidFill>
                <a:latin typeface="Calibri" pitchFamily="34" charset="0"/>
                <a:ea typeface="Calibri" pitchFamily="34" charset="-122"/>
                <a:cs typeface="Calibri" pitchFamily="34" charset="-120"/>
              </a:rPr>
              <a:t>27 players</a:t>
            </a:r>
            <a:endParaRPr lang="en-US" sz="1500" dirty="0"/>
          </a:p>
        </p:txBody>
      </p:sp>
      <p:sp>
        <p:nvSpPr>
          <p:cNvPr id="23" name="Text 21"/>
          <p:cNvSpPr/>
          <p:nvPr/>
        </p:nvSpPr>
        <p:spPr>
          <a:xfrm>
            <a:off x="6318504" y="4892040"/>
            <a:ext cx="5120640" cy="960120"/>
          </a:xfrm>
          <a:prstGeom prst="rect">
            <a:avLst/>
          </a:prstGeom>
          <a:noFill/>
          <a:ln/>
        </p:spPr>
        <p:txBody>
          <a:bodyPr wrap="square" lIns="0" tIns="0" rIns="0" bIns="0" rtlCol="0" anchor="t"/>
          <a:lstStyle/>
          <a:p>
            <a:pPr indent="0" marL="0">
              <a:buNone/>
            </a:pPr>
            <a:r>
              <a:rPr lang="en-US" sz="1400" dirty="0">
                <a:solidFill>
                  <a:srgbClr val="222222"/>
                </a:solidFill>
                <a:latin typeface="Calibri" pitchFamily="34" charset="0"/>
                <a:ea typeface="Calibri" pitchFamily="34" charset="-122"/>
                <a:cs typeface="Calibri" pitchFamily="34" charset="-120"/>
              </a:rPr>
              <a:t>Dirk Nowitzki, Chris Bosh, Carmelo Anthony</a:t>
            </a:r>
            <a:endParaRPr lang="en-US" sz="1400" dirty="0"/>
          </a:p>
        </p:txBody>
      </p:sp>
      <p:sp>
        <p:nvSpPr>
          <p:cNvPr id="24" name="Text 22"/>
          <p:cNvSpPr/>
          <p:nvPr/>
        </p:nvSpPr>
        <p:spPr>
          <a:xfrm>
            <a:off x="548640" y="6510528"/>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NBA Shot Quality Capstone — DAT 490 (Summer A 2026)</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100" b="1" spc="200" kern="0" dirty="0">
                <a:solidFill>
                  <a:srgbClr val="2E75B6"/>
                </a:solidFill>
                <a:latin typeface="Calibri" pitchFamily="34" charset="0"/>
                <a:ea typeface="Calibri" pitchFamily="34" charset="-122"/>
                <a:cs typeface="Calibri" pitchFamily="34" charset="-120"/>
              </a:rPr>
              <a:t>RQ3 · ADJUSTED vs TRADITIONAL  ·  MARC</a:t>
            </a:r>
            <a:endParaRPr lang="en-US" sz="1100" dirty="0"/>
          </a:p>
        </p:txBody>
      </p:sp>
      <p:sp>
        <p:nvSpPr>
          <p:cNvPr id="3" name="Text 1"/>
          <p:cNvSpPr/>
          <p:nvPr/>
        </p:nvSpPr>
        <p:spPr>
          <a:xfrm>
            <a:off x="548640" y="566928"/>
            <a:ext cx="11064240" cy="868680"/>
          </a:xfrm>
          <a:prstGeom prst="rect">
            <a:avLst/>
          </a:prstGeom>
          <a:noFill/>
          <a:ln/>
        </p:spPr>
        <p:txBody>
          <a:bodyPr wrap="square" lIns="0" tIns="0" rIns="0" bIns="0" rtlCol="0" anchor="t"/>
          <a:lstStyle/>
          <a:p>
            <a:pPr indent="0" marL="0">
              <a:buNone/>
            </a:pPr>
            <a:r>
              <a:rPr lang="en-US" sz="2900" b="1" dirty="0">
                <a:solidFill>
                  <a:srgbClr val="1F3864"/>
                </a:solidFill>
                <a:latin typeface="Georgia" pitchFamily="34" charset="0"/>
                <a:ea typeface="Georgia" pitchFamily="34" charset="-122"/>
                <a:cs typeface="Georgia" pitchFamily="34" charset="-120"/>
              </a:rPr>
              <a:t>A meaningfully different ranking</a:t>
            </a:r>
            <a:endParaRPr lang="en-US" sz="2900" dirty="0"/>
          </a:p>
        </p:txBody>
      </p:sp>
      <p:sp>
        <p:nvSpPr>
          <p:cNvPr id="4" name="Text 2"/>
          <p:cNvSpPr/>
          <p:nvPr/>
        </p:nvSpPr>
        <p:spPr>
          <a:xfrm>
            <a:off x="548640" y="1600200"/>
            <a:ext cx="6035040" cy="4572000"/>
          </a:xfrm>
          <a:prstGeom prst="rect">
            <a:avLst/>
          </a:prstGeom>
          <a:noFill/>
          <a:ln/>
        </p:spPr>
        <p:txBody>
          <a:bodyPr wrap="square" lIns="0" tIns="0" rIns="0" bIns="0" rtlCol="0" anchor="t"/>
          <a:lstStyle/>
          <a:p>
            <a:pPr marL="177800" indent="-177800">
              <a:spcAft>
                <a:spcPts val="400"/>
              </a:spcAft>
              <a:buSzPct val="100000"/>
              <a:buChar char="•"/>
            </a:pPr>
            <a:r>
              <a:rPr lang="en-US" sz="1500" b="1" dirty="0">
                <a:solidFill>
                  <a:srgbClr val="1F3864"/>
                </a:solidFill>
                <a:latin typeface="Calibri" pitchFamily="34" charset="0"/>
                <a:ea typeface="Calibri" pitchFamily="34" charset="-122"/>
                <a:cs typeface="Calibri" pitchFamily="34" charset="-120"/>
              </a:rPr>
              <a:t>Spearman correlation vs traditional metrics:</a:t>
            </a:r>
            <a:endParaRPr lang="en-US" sz="1500" dirty="0"/>
          </a:p>
          <a:p>
            <a:pPr lvl="1" marL="355600" indent="-177800">
              <a:spcAft>
                <a:spcPts val="300"/>
              </a:spcAft>
              <a:buSzPct val="100000"/>
              <a:buChar char="•"/>
            </a:pPr>
            <a:r>
              <a:rPr lang="en-US" sz="1500" dirty="0">
                <a:solidFill>
                  <a:srgbClr val="222222"/>
                </a:solidFill>
                <a:latin typeface="Calibri" pitchFamily="34" charset="0"/>
                <a:ea typeface="Calibri" pitchFamily="34" charset="-122"/>
                <a:cs typeface="Calibri" pitchFamily="34" charset="-120"/>
              </a:rPr>
              <a:t>vs FG%:  ρ = 0.39   (well below 1 — a different story)</a:t>
            </a:r>
            <a:endParaRPr lang="en-US" sz="1500" dirty="0"/>
          </a:p>
          <a:p>
            <a:pPr lvl="1" marL="355600" indent="-1778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vs eFG%:  ρ = 0.59</a:t>
            </a:r>
            <a:endParaRPr lang="en-US" sz="1500" dirty="0"/>
          </a:p>
          <a:p>
            <a:pPr marL="177800" indent="-177800">
              <a:spcAft>
                <a:spcPts val="400"/>
              </a:spcAft>
              <a:buSzPct val="100000"/>
              <a:buChar char="•"/>
            </a:pPr>
            <a:r>
              <a:rPr lang="en-US" sz="1500" b="1" dirty="0">
                <a:solidFill>
                  <a:srgbClr val="1F3864"/>
                </a:solidFill>
                <a:latin typeface="Calibri" pitchFamily="34" charset="0"/>
                <a:ea typeface="Calibri" pitchFamily="34" charset="-122"/>
                <a:cs typeface="Calibri" pitchFamily="34" charset="-120"/>
              </a:rPr>
              <a:t>Movers sort cleanly by type:</a:t>
            </a:r>
            <a:endParaRPr lang="en-US" sz="1500" dirty="0"/>
          </a:p>
          <a:p>
            <a:pPr lvl="1" marL="355600" indent="-177800">
              <a:spcAft>
                <a:spcPts val="300"/>
              </a:spcAft>
              <a:buSzPct val="100000"/>
              <a:buChar char="•"/>
            </a:pPr>
            <a:r>
              <a:rPr lang="en-US" sz="1500" dirty="0">
                <a:solidFill>
                  <a:srgbClr val="222222"/>
                </a:solidFill>
                <a:latin typeface="Calibri" pitchFamily="34" charset="0"/>
                <a:ea typeface="Calibri" pitchFamily="34" charset="-122"/>
                <a:cs typeface="Calibri" pitchFamily="34" charset="-120"/>
              </a:rPr>
              <a:t>Risers — perimeter shooters (Prigioni +195 spots)</a:t>
            </a:r>
            <a:endParaRPr lang="en-US" sz="1500" dirty="0"/>
          </a:p>
          <a:p>
            <a:pPr lvl="1" marL="355600" indent="-1778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Fallers — interior, easy shots (Asik −233 spots)</a:t>
            </a:r>
            <a:endParaRPr lang="en-US" sz="1500" dirty="0"/>
          </a:p>
          <a:p>
            <a:pPr marL="177800" indent="-177800">
              <a:spcAft>
                <a:spcPts val="800"/>
              </a:spcAft>
              <a:buSzPct val="100000"/>
              <a:buChar char="•"/>
            </a:pPr>
            <a:r>
              <a:rPr lang="en-US" sz="1500" b="1" dirty="0">
                <a:solidFill>
                  <a:srgbClr val="1F3864"/>
                </a:solidFill>
                <a:latin typeface="Calibri" pitchFamily="34" charset="0"/>
                <a:ea typeface="Calibri" pitchFamily="34" charset="-122"/>
                <a:cs typeface="Calibri" pitchFamily="34" charset="-120"/>
              </a:rPr>
              <a:t>The metric working as designed: credit for hard shots, little for easy ones.</a:t>
            </a:r>
            <a:endParaRPr lang="en-US" sz="1500" dirty="0"/>
          </a:p>
        </p:txBody>
      </p:sp>
      <p:sp>
        <p:nvSpPr>
          <p:cNvPr id="5" name="Shape 3"/>
          <p:cNvSpPr/>
          <p:nvPr/>
        </p:nvSpPr>
        <p:spPr>
          <a:xfrm>
            <a:off x="7223760" y="1371600"/>
            <a:ext cx="4480560" cy="4754880"/>
          </a:xfrm>
          <a:prstGeom prst="rect">
            <a:avLst/>
          </a:prstGeom>
          <a:solidFill>
            <a:srgbClr val="FFFFFF"/>
          </a:solidFill>
          <a:ln w="12700">
            <a:solidFill>
              <a:srgbClr val="DCE6F2"/>
            </a:solidFill>
            <a:prstDash val="solid"/>
          </a:ln>
          <a:effectLst>
            <a:outerShdw sx="100000" sy="100000" kx="0" ky="0" algn="bl" rotWithShape="0" blurRad="76200" dist="25400" dir="8100000">
              <a:srgbClr val="000000">
                <a:alpha val="12000"/>
              </a:srgbClr>
            </a:outerShdw>
          </a:effectLst>
        </p:spPr>
      </p:sp>
      <p:pic>
        <p:nvPicPr>
          <p:cNvPr id="6" name="Image 0" descr="dataviz_charts/rq3_rank_shift.png">    </p:cNvPr>
          <p:cNvPicPr>
            <a:picLocks noChangeAspect="1"/>
          </p:cNvPicPr>
          <p:nvPr/>
        </p:nvPicPr>
        <p:blipFill>
          <a:blip r:embed="rId1"/>
          <a:stretch>
            <a:fillRect/>
          </a:stretch>
        </p:blipFill>
        <p:spPr>
          <a:xfrm>
            <a:off x="7315200" y="2083273"/>
            <a:ext cx="4297680" cy="3331535"/>
          </a:xfrm>
          <a:prstGeom prst="rect">
            <a:avLst/>
          </a:prstGeom>
        </p:spPr>
      </p:pic>
      <p:sp>
        <p:nvSpPr>
          <p:cNvPr id="7" name="Text 4"/>
          <p:cNvSpPr/>
          <p:nvPr/>
        </p:nvSpPr>
        <p:spPr>
          <a:xfrm>
            <a:off x="548640" y="6510528"/>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NBA Shot Quality Capstone — DAT 490 (Summer A 2026)</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7315200" y="182880"/>
            <a:ext cx="4663440" cy="6492240"/>
          </a:xfrm>
          <a:prstGeom prst="rect">
            <a:avLst/>
          </a:prstGeom>
          <a:noFill/>
          <a:ln/>
        </p:spPr>
        <p:txBody>
          <a:bodyPr wrap="square" lIns="0" tIns="0" rIns="0" bIns="0" rtlCol="0" anchor="ctr"/>
          <a:lstStyle/>
          <a:p>
            <a:pPr algn="r" indent="0" marL="0">
              <a:buNone/>
            </a:pPr>
            <a:r>
              <a:rPr lang="en-US" sz="30000" b="1" dirty="0">
                <a:solidFill>
                  <a:srgbClr val="2A4A78"/>
                </a:solidFill>
                <a:latin typeface="Georgia" pitchFamily="34" charset="0"/>
                <a:ea typeface="Georgia" pitchFamily="34" charset="-122"/>
                <a:cs typeface="Georgia" pitchFamily="34" charset="-120"/>
              </a:rPr>
              <a:t>5</a:t>
            </a:r>
            <a:endParaRPr lang="en-US" sz="30000" dirty="0"/>
          </a:p>
        </p:txBody>
      </p:sp>
      <p:sp>
        <p:nvSpPr>
          <p:cNvPr id="3" name="Text 1"/>
          <p:cNvSpPr/>
          <p:nvPr/>
        </p:nvSpPr>
        <p:spPr>
          <a:xfrm>
            <a:off x="777240" y="1828800"/>
            <a:ext cx="7315200" cy="365760"/>
          </a:xfrm>
          <a:prstGeom prst="rect">
            <a:avLst/>
          </a:prstGeom>
          <a:noFill/>
          <a:ln/>
        </p:spPr>
        <p:txBody>
          <a:bodyPr wrap="square" lIns="0" tIns="0" rIns="0" bIns="0" rtlCol="0" anchor="ctr"/>
          <a:lstStyle/>
          <a:p>
            <a:pPr indent="0" marL="0">
              <a:buNone/>
            </a:pPr>
            <a:r>
              <a:rPr lang="en-US" sz="1500" b="1" spc="300" kern="0" dirty="0">
                <a:solidFill>
                  <a:srgbClr val="E23B54"/>
                </a:solidFill>
                <a:latin typeface="Calibri" pitchFamily="34" charset="0"/>
                <a:ea typeface="Calibri" pitchFamily="34" charset="-122"/>
                <a:cs typeface="Calibri" pitchFamily="34" charset="-120"/>
              </a:rPr>
              <a:t>SEGMENT 5</a:t>
            </a:r>
            <a:endParaRPr lang="en-US" sz="1500" dirty="0"/>
          </a:p>
        </p:txBody>
      </p:sp>
      <p:sp>
        <p:nvSpPr>
          <p:cNvPr id="4" name="Text 2"/>
          <p:cNvSpPr/>
          <p:nvPr/>
        </p:nvSpPr>
        <p:spPr>
          <a:xfrm>
            <a:off x="777240" y="2240280"/>
            <a:ext cx="7498080" cy="1554480"/>
          </a:xfrm>
          <a:prstGeom prst="rect">
            <a:avLst/>
          </a:prstGeom>
          <a:noFill/>
          <a:ln/>
        </p:spPr>
        <p:txBody>
          <a:bodyPr wrap="square" lIns="0" tIns="0" rIns="0" bIns="0" rtlCol="0" anchor="t"/>
          <a:lstStyle/>
          <a:p>
            <a:pPr indent="0" marL="0">
              <a:buNone/>
            </a:pPr>
            <a:r>
              <a:rPr lang="en-US" sz="4000" b="1" dirty="0">
                <a:solidFill>
                  <a:srgbClr val="FFFFFF"/>
                </a:solidFill>
                <a:latin typeface="Georgia" pitchFamily="34" charset="0"/>
                <a:ea typeface="Georgia" pitchFamily="34" charset="-122"/>
                <a:cs typeface="Georgia" pitchFamily="34" charset="-120"/>
              </a:rPr>
              <a:t>Ethics, Recommendations &amp; Conclusion</a:t>
            </a:r>
            <a:endParaRPr lang="en-US" sz="4000" dirty="0"/>
          </a:p>
        </p:txBody>
      </p:sp>
      <p:sp>
        <p:nvSpPr>
          <p:cNvPr id="5" name="Text 3"/>
          <p:cNvSpPr/>
          <p:nvPr/>
        </p:nvSpPr>
        <p:spPr>
          <a:xfrm>
            <a:off x="822960" y="4160520"/>
            <a:ext cx="6400800" cy="82296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Cole Campbell</a:t>
            </a:r>
            <a:endParaRPr lang="en-US" sz="1900" dirty="0"/>
          </a:p>
          <a:p>
            <a:pPr indent="0" marL="0">
              <a:buNone/>
            </a:pPr>
            <a:r>
              <a:rPr lang="en-US" sz="1600" dirty="0">
                <a:solidFill>
                  <a:srgbClr val="CADCFC"/>
                </a:solidFill>
                <a:latin typeface="Calibri" pitchFamily="34" charset="0"/>
                <a:ea typeface="Calibri" pitchFamily="34" charset="-122"/>
                <a:cs typeface="Calibri" pitchFamily="34" charset="-120"/>
              </a:rPr>
              <a:t>Project Lead / Literature Review &amp; Ethics</a:t>
            </a:r>
            <a:endParaRPr lang="en-US" sz="1900" dirty="0"/>
          </a:p>
        </p:txBody>
      </p:sp>
      <p:sp>
        <p:nvSpPr>
          <p:cNvPr id="6" name="Shape 4"/>
          <p:cNvSpPr/>
          <p:nvPr/>
        </p:nvSpPr>
        <p:spPr>
          <a:xfrm>
            <a:off x="822960" y="5074920"/>
            <a:ext cx="1737360" cy="502920"/>
          </a:xfrm>
          <a:prstGeom prst="roundRect">
            <a:avLst>
              <a:gd name="adj" fmla="val 14545"/>
            </a:avLst>
          </a:prstGeom>
          <a:solidFill>
            <a:srgbClr val="C8102E"/>
          </a:solidFill>
          <a:ln/>
        </p:spPr>
      </p:sp>
      <p:sp>
        <p:nvSpPr>
          <p:cNvPr id="7" name="Text 5"/>
          <p:cNvSpPr/>
          <p:nvPr/>
        </p:nvSpPr>
        <p:spPr>
          <a:xfrm>
            <a:off x="822960" y="5074920"/>
            <a:ext cx="173736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  ~2 min</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100" b="1" spc="200" kern="0" dirty="0">
                <a:solidFill>
                  <a:srgbClr val="2E75B6"/>
                </a:solidFill>
                <a:latin typeface="Calibri" pitchFamily="34" charset="0"/>
                <a:ea typeface="Calibri" pitchFamily="34" charset="-122"/>
                <a:cs typeface="Calibri" pitchFamily="34" charset="-120"/>
              </a:rPr>
              <a:t>ETHICS  ·  COLE</a:t>
            </a:r>
            <a:endParaRPr lang="en-US" sz="1100" dirty="0"/>
          </a:p>
        </p:txBody>
      </p:sp>
      <p:sp>
        <p:nvSpPr>
          <p:cNvPr id="3" name="Text 1"/>
          <p:cNvSpPr/>
          <p:nvPr/>
        </p:nvSpPr>
        <p:spPr>
          <a:xfrm>
            <a:off x="548640" y="566928"/>
            <a:ext cx="11064240" cy="868680"/>
          </a:xfrm>
          <a:prstGeom prst="rect">
            <a:avLst/>
          </a:prstGeom>
          <a:noFill/>
          <a:ln/>
        </p:spPr>
        <p:txBody>
          <a:bodyPr wrap="square" lIns="0" tIns="0" rIns="0" bIns="0" rtlCol="0" anchor="t"/>
          <a:lstStyle/>
          <a:p>
            <a:pPr indent="0" marL="0">
              <a:buNone/>
            </a:pPr>
            <a:r>
              <a:rPr lang="en-US" sz="2900" b="1" dirty="0">
                <a:solidFill>
                  <a:srgbClr val="1F3864"/>
                </a:solidFill>
                <a:latin typeface="Georgia" pitchFamily="34" charset="0"/>
                <a:ea typeface="Georgia" pitchFamily="34" charset="-122"/>
                <a:cs typeface="Georgia" pitchFamily="34" charset="-120"/>
              </a:rPr>
              <a:t>The metric measures one thing — use it that way</a:t>
            </a:r>
            <a:endParaRPr lang="en-US" sz="2900" dirty="0"/>
          </a:p>
        </p:txBody>
      </p:sp>
      <p:sp>
        <p:nvSpPr>
          <p:cNvPr id="4" name="Text 2"/>
          <p:cNvSpPr/>
          <p:nvPr/>
        </p:nvSpPr>
        <p:spPr>
          <a:xfrm>
            <a:off x="548640" y="1600200"/>
            <a:ext cx="11064240" cy="4297680"/>
          </a:xfrm>
          <a:prstGeom prst="rect">
            <a:avLst/>
          </a:prstGeom>
          <a:noFill/>
          <a:ln/>
        </p:spPr>
        <p:txBody>
          <a:bodyPr wrap="square" lIns="0" tIns="0" rIns="0" bIns="0" rtlCol="0" anchor="t"/>
          <a:lstStyle/>
          <a:p>
            <a:pPr marL="177800" indent="-177800">
              <a:spcAft>
                <a:spcPts val="800"/>
              </a:spcAft>
              <a:buSzPct val="100000"/>
              <a:buChar char="•"/>
            </a:pPr>
            <a:r>
              <a:rPr lang="en-US" sz="1500" b="1" dirty="0">
                <a:solidFill>
                  <a:srgbClr val="1F3864"/>
                </a:solidFill>
                <a:latin typeface="Calibri" pitchFamily="34" charset="0"/>
                <a:ea typeface="Calibri" pitchFamily="34" charset="-122"/>
                <a:cs typeface="Calibri" pitchFamily="34" charset="-120"/>
              </a:rPr>
              <a:t>Our metric measures shot-making only — not defense, rebounding, or playmaking.</a:t>
            </a:r>
            <a:endParaRPr lang="en-US" sz="1500" dirty="0"/>
          </a:p>
          <a:p>
            <a:pPr marL="177800" indent="-1778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A player who ranks low isn't necessarily a bad player; the thing that makes them valuable may not be what this measures.</a:t>
            </a:r>
            <a:endParaRPr lang="en-US" sz="1500" dirty="0"/>
          </a:p>
          <a:p>
            <a:pPr marL="177800" indent="-177800">
              <a:spcAft>
                <a:spcPts val="400"/>
              </a:spcAft>
              <a:buSzPct val="100000"/>
              <a:buChar char="•"/>
            </a:pPr>
            <a:r>
              <a:rPr lang="en-US" sz="1500" b="1" dirty="0">
                <a:solidFill>
                  <a:srgbClr val="1F3864"/>
                </a:solidFill>
                <a:latin typeface="Calibri" pitchFamily="34" charset="0"/>
                <a:ea typeface="Calibri" pitchFamily="34" charset="-122"/>
                <a:cs typeface="Calibri" pitchFamily="34" charset="-120"/>
              </a:rPr>
              <a:t>Responsible use:</a:t>
            </a:r>
            <a:endParaRPr lang="en-US" sz="1500" dirty="0"/>
          </a:p>
          <a:p>
            <a:pPr lvl="1" marL="355600" indent="-177800">
              <a:spcAft>
                <a:spcPts val="300"/>
              </a:spcAft>
              <a:buSzPct val="100000"/>
              <a:buChar char="•"/>
            </a:pPr>
            <a:r>
              <a:rPr lang="en-US" sz="1500" dirty="0">
                <a:solidFill>
                  <a:srgbClr val="222222"/>
                </a:solidFill>
                <a:latin typeface="Calibri" pitchFamily="34" charset="0"/>
                <a:ea typeface="Calibri" pitchFamily="34" charset="-122"/>
                <a:cs typeface="Calibri" pitchFamily="34" charset="-120"/>
              </a:rPr>
              <a:t>One input among many — never a complete verdict on a player</a:t>
            </a:r>
            <a:endParaRPr lang="en-US" sz="1500" dirty="0"/>
          </a:p>
          <a:p>
            <a:pPr lvl="1" marL="355600" indent="-177800">
              <a:spcAft>
                <a:spcPts val="300"/>
              </a:spcAft>
              <a:buSzPct val="100000"/>
              <a:buChar char="•"/>
            </a:pPr>
            <a:r>
              <a:rPr lang="en-US" sz="1500" dirty="0">
                <a:solidFill>
                  <a:srgbClr val="222222"/>
                </a:solidFill>
                <a:latin typeface="Calibri" pitchFamily="34" charset="0"/>
                <a:ea typeface="Calibri" pitchFamily="34" charset="-122"/>
                <a:cs typeface="Calibri" pitchFamily="34" charset="-120"/>
              </a:rPr>
              <a:t>Always read in the context of a player's role</a:t>
            </a:r>
            <a:endParaRPr lang="en-US" sz="1500" dirty="0"/>
          </a:p>
          <a:p>
            <a:pPr lvl="1" marL="355600" indent="-1778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Honest about limits — built on a single season; a moment in time, not a permanent truth</a:t>
            </a:r>
            <a:endParaRPr lang="en-US" sz="1500" dirty="0"/>
          </a:p>
        </p:txBody>
      </p:sp>
      <p:sp>
        <p:nvSpPr>
          <p:cNvPr id="5" name="Text 3"/>
          <p:cNvSpPr/>
          <p:nvPr/>
        </p:nvSpPr>
        <p:spPr>
          <a:xfrm>
            <a:off x="548640" y="6510528"/>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NBA Shot Quality Capstone — DAT 490 (Summer A 2026)</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100" b="1" spc="200" kern="0" dirty="0">
                <a:solidFill>
                  <a:srgbClr val="2E75B6"/>
                </a:solidFill>
                <a:latin typeface="Calibri" pitchFamily="34" charset="0"/>
                <a:ea typeface="Calibri" pitchFamily="34" charset="-122"/>
                <a:cs typeface="Calibri" pitchFamily="34" charset="-120"/>
              </a:rPr>
              <a:t>RECOMMENDATIONS &amp; NEXT STEPS  ·  COLE</a:t>
            </a:r>
            <a:endParaRPr lang="en-US" sz="1100" dirty="0"/>
          </a:p>
        </p:txBody>
      </p:sp>
      <p:sp>
        <p:nvSpPr>
          <p:cNvPr id="3" name="Text 1"/>
          <p:cNvSpPr/>
          <p:nvPr/>
        </p:nvSpPr>
        <p:spPr>
          <a:xfrm>
            <a:off x="548640" y="566928"/>
            <a:ext cx="11064240" cy="868680"/>
          </a:xfrm>
          <a:prstGeom prst="rect">
            <a:avLst/>
          </a:prstGeom>
          <a:noFill/>
          <a:ln/>
        </p:spPr>
        <p:txBody>
          <a:bodyPr wrap="square" lIns="0" tIns="0" rIns="0" bIns="0" rtlCol="0" anchor="t"/>
          <a:lstStyle/>
          <a:p>
            <a:pPr indent="0" marL="0">
              <a:buNone/>
            </a:pPr>
            <a:r>
              <a:rPr lang="en-US" sz="2900" b="1" dirty="0">
                <a:solidFill>
                  <a:srgbClr val="1F3864"/>
                </a:solidFill>
                <a:latin typeface="Georgia" pitchFamily="34" charset="0"/>
                <a:ea typeface="Georgia" pitchFamily="34" charset="-122"/>
                <a:cs typeface="Georgia" pitchFamily="34" charset="-120"/>
              </a:rPr>
              <a:t>With 6–12 months instead of two</a:t>
            </a:r>
            <a:endParaRPr lang="en-US" sz="2900" dirty="0"/>
          </a:p>
        </p:txBody>
      </p:sp>
      <p:sp>
        <p:nvSpPr>
          <p:cNvPr id="4" name="Shape 2"/>
          <p:cNvSpPr/>
          <p:nvPr/>
        </p:nvSpPr>
        <p:spPr>
          <a:xfrm>
            <a:off x="548640" y="1783080"/>
            <a:ext cx="3575304" cy="3657600"/>
          </a:xfrm>
          <a:prstGeom prst="rect">
            <a:avLst/>
          </a:prstGeom>
          <a:solidFill>
            <a:srgbClr val="F4F7FB"/>
          </a:solidFill>
          <a:ln w="12700">
            <a:solidFill>
              <a:srgbClr val="DCE6F2"/>
            </a:solidFill>
            <a:prstDash val="solid"/>
          </a:ln>
          <a:effectLst>
            <a:outerShdw sx="100000" sy="100000" kx="0" ky="0" algn="bl" rotWithShape="0" blurRad="76200" dist="25400" dir="8100000">
              <a:srgbClr val="000000">
                <a:alpha val="12000"/>
              </a:srgbClr>
            </a:outerShdw>
          </a:effectLst>
        </p:spPr>
      </p:sp>
      <p:sp>
        <p:nvSpPr>
          <p:cNvPr id="5" name="Shape 3"/>
          <p:cNvSpPr/>
          <p:nvPr/>
        </p:nvSpPr>
        <p:spPr>
          <a:xfrm>
            <a:off x="822960" y="2057400"/>
            <a:ext cx="777240" cy="777240"/>
          </a:xfrm>
          <a:prstGeom prst="ellipse">
            <a:avLst/>
          </a:prstGeom>
          <a:solidFill>
            <a:srgbClr val="1F3864"/>
          </a:solidFill>
          <a:ln/>
        </p:spPr>
      </p:sp>
      <p:sp>
        <p:nvSpPr>
          <p:cNvPr id="6" name="Text 4"/>
          <p:cNvSpPr/>
          <p:nvPr/>
        </p:nvSpPr>
        <p:spPr>
          <a:xfrm>
            <a:off x="822960" y="2057400"/>
            <a:ext cx="777240" cy="777240"/>
          </a:xfrm>
          <a:prstGeom prst="rect">
            <a:avLst/>
          </a:prstGeom>
          <a:noFill/>
          <a:ln/>
        </p:spPr>
        <p:txBody>
          <a:bodyPr wrap="square" lIns="0" tIns="0" rIns="0" bIns="0" rtlCol="0" anchor="ctr"/>
          <a:lstStyle/>
          <a:p>
            <a:pPr algn="ctr" indent="0" marL="0">
              <a:buNone/>
            </a:pPr>
            <a:r>
              <a:rPr lang="en-US" sz="2600" b="1" dirty="0">
                <a:solidFill>
                  <a:srgbClr val="FFFFFF"/>
                </a:solidFill>
                <a:latin typeface="Georgia" pitchFamily="34" charset="0"/>
                <a:ea typeface="Georgia" pitchFamily="34" charset="-122"/>
                <a:cs typeface="Georgia" pitchFamily="34" charset="-120"/>
              </a:rPr>
              <a:t>1</a:t>
            </a:r>
            <a:endParaRPr lang="en-US" sz="2600" dirty="0"/>
          </a:p>
        </p:txBody>
      </p:sp>
      <p:sp>
        <p:nvSpPr>
          <p:cNvPr id="7" name="Text 5"/>
          <p:cNvSpPr/>
          <p:nvPr/>
        </p:nvSpPr>
        <p:spPr>
          <a:xfrm>
            <a:off x="822960" y="3017520"/>
            <a:ext cx="3026664" cy="640080"/>
          </a:xfrm>
          <a:prstGeom prst="rect">
            <a:avLst/>
          </a:prstGeom>
          <a:noFill/>
          <a:ln/>
        </p:spPr>
        <p:txBody>
          <a:bodyPr wrap="square" lIns="0" tIns="0" rIns="0" bIns="0" rtlCol="0" anchor="ctr"/>
          <a:lstStyle/>
          <a:p>
            <a:pPr indent="0" marL="0">
              <a:buNone/>
            </a:pPr>
            <a:r>
              <a:rPr lang="en-US" sz="2000" b="1" dirty="0">
                <a:solidFill>
                  <a:srgbClr val="1F3864"/>
                </a:solidFill>
                <a:latin typeface="Georgia" pitchFamily="34" charset="0"/>
                <a:ea typeface="Georgia" pitchFamily="34" charset="-122"/>
                <a:cs typeface="Georgia" pitchFamily="34" charset="-120"/>
              </a:rPr>
              <a:t>Better data</a:t>
            </a:r>
            <a:endParaRPr lang="en-US" sz="2000" dirty="0"/>
          </a:p>
        </p:txBody>
      </p:sp>
      <p:sp>
        <p:nvSpPr>
          <p:cNvPr id="8" name="Text 6"/>
          <p:cNvSpPr/>
          <p:nvPr/>
        </p:nvSpPr>
        <p:spPr>
          <a:xfrm>
            <a:off x="822960" y="3703320"/>
            <a:ext cx="3026664" cy="1554480"/>
          </a:xfrm>
          <a:prstGeom prst="rect">
            <a:avLst/>
          </a:prstGeom>
          <a:noFill/>
          <a:ln/>
        </p:spPr>
        <p:txBody>
          <a:bodyPr wrap="square" lIns="0" tIns="0" rIns="0" bIns="0" rtlCol="0" anchor="t"/>
          <a:lstStyle/>
          <a:p>
            <a:pPr indent="0" marL="0">
              <a:buNone/>
            </a:pPr>
            <a:r>
              <a:rPr lang="en-US" sz="1450" dirty="0">
                <a:solidFill>
                  <a:srgbClr val="222222"/>
                </a:solidFill>
                <a:latin typeface="Calibri" pitchFamily="34" charset="0"/>
                <a:ea typeface="Calibri" pitchFamily="34" charset="-122"/>
                <a:cs typeface="Calibri" pitchFamily="34" charset="-120"/>
              </a:rPr>
              <a:t>Pursue multi-season tracking features so the model isn't tied to a single year.</a:t>
            </a:r>
            <a:endParaRPr lang="en-US" sz="1450" dirty="0"/>
          </a:p>
        </p:txBody>
      </p:sp>
      <p:sp>
        <p:nvSpPr>
          <p:cNvPr id="9" name="Shape 7"/>
          <p:cNvSpPr/>
          <p:nvPr/>
        </p:nvSpPr>
        <p:spPr>
          <a:xfrm>
            <a:off x="4306824" y="1783080"/>
            <a:ext cx="3575304" cy="3657600"/>
          </a:xfrm>
          <a:prstGeom prst="rect">
            <a:avLst/>
          </a:prstGeom>
          <a:solidFill>
            <a:srgbClr val="F4F7FB"/>
          </a:solidFill>
          <a:ln w="12700">
            <a:solidFill>
              <a:srgbClr val="DCE6F2"/>
            </a:solidFill>
            <a:prstDash val="solid"/>
          </a:ln>
          <a:effectLst>
            <a:outerShdw sx="100000" sy="100000" kx="0" ky="0" algn="bl" rotWithShape="0" blurRad="76200" dist="25400" dir="8100000">
              <a:srgbClr val="000000">
                <a:alpha val="12000"/>
              </a:srgbClr>
            </a:outerShdw>
          </a:effectLst>
        </p:spPr>
      </p:sp>
      <p:sp>
        <p:nvSpPr>
          <p:cNvPr id="10" name="Shape 8"/>
          <p:cNvSpPr/>
          <p:nvPr/>
        </p:nvSpPr>
        <p:spPr>
          <a:xfrm>
            <a:off x="4581144" y="2057400"/>
            <a:ext cx="777240" cy="777240"/>
          </a:xfrm>
          <a:prstGeom prst="ellipse">
            <a:avLst/>
          </a:prstGeom>
          <a:solidFill>
            <a:srgbClr val="1F3864"/>
          </a:solidFill>
          <a:ln/>
        </p:spPr>
      </p:sp>
      <p:sp>
        <p:nvSpPr>
          <p:cNvPr id="11" name="Text 9"/>
          <p:cNvSpPr/>
          <p:nvPr/>
        </p:nvSpPr>
        <p:spPr>
          <a:xfrm>
            <a:off x="4581144" y="2057400"/>
            <a:ext cx="777240" cy="777240"/>
          </a:xfrm>
          <a:prstGeom prst="rect">
            <a:avLst/>
          </a:prstGeom>
          <a:noFill/>
          <a:ln/>
        </p:spPr>
        <p:txBody>
          <a:bodyPr wrap="square" lIns="0" tIns="0" rIns="0" bIns="0" rtlCol="0" anchor="ctr"/>
          <a:lstStyle/>
          <a:p>
            <a:pPr algn="ctr" indent="0" marL="0">
              <a:buNone/>
            </a:pPr>
            <a:r>
              <a:rPr lang="en-US" sz="2600" b="1" dirty="0">
                <a:solidFill>
                  <a:srgbClr val="FFFFFF"/>
                </a:solidFill>
                <a:latin typeface="Georgia" pitchFamily="34" charset="0"/>
                <a:ea typeface="Georgia" pitchFamily="34" charset="-122"/>
                <a:cs typeface="Georgia" pitchFamily="34" charset="-120"/>
              </a:rPr>
              <a:t>2</a:t>
            </a:r>
            <a:endParaRPr lang="en-US" sz="2600" dirty="0"/>
          </a:p>
        </p:txBody>
      </p:sp>
      <p:sp>
        <p:nvSpPr>
          <p:cNvPr id="12" name="Text 10"/>
          <p:cNvSpPr/>
          <p:nvPr/>
        </p:nvSpPr>
        <p:spPr>
          <a:xfrm>
            <a:off x="4581144" y="3017520"/>
            <a:ext cx="3026664" cy="640080"/>
          </a:xfrm>
          <a:prstGeom prst="rect">
            <a:avLst/>
          </a:prstGeom>
          <a:noFill/>
          <a:ln/>
        </p:spPr>
        <p:txBody>
          <a:bodyPr wrap="square" lIns="0" tIns="0" rIns="0" bIns="0" rtlCol="0" anchor="ctr"/>
          <a:lstStyle/>
          <a:p>
            <a:pPr indent="0" marL="0">
              <a:buNone/>
            </a:pPr>
            <a:r>
              <a:rPr lang="en-US" sz="2000" b="1" dirty="0">
                <a:solidFill>
                  <a:srgbClr val="1F3864"/>
                </a:solidFill>
                <a:latin typeface="Georgia" pitchFamily="34" charset="0"/>
                <a:ea typeface="Georgia" pitchFamily="34" charset="-122"/>
                <a:cs typeface="Georgia" pitchFamily="34" charset="-120"/>
              </a:rPr>
              <a:t>Richer modeling</a:t>
            </a:r>
            <a:endParaRPr lang="en-US" sz="2000" dirty="0"/>
          </a:p>
        </p:txBody>
      </p:sp>
      <p:sp>
        <p:nvSpPr>
          <p:cNvPr id="13" name="Text 11"/>
          <p:cNvSpPr/>
          <p:nvPr/>
        </p:nvSpPr>
        <p:spPr>
          <a:xfrm>
            <a:off x="4581144" y="3703320"/>
            <a:ext cx="3026664" cy="1554480"/>
          </a:xfrm>
          <a:prstGeom prst="rect">
            <a:avLst/>
          </a:prstGeom>
          <a:noFill/>
          <a:ln/>
        </p:spPr>
        <p:txBody>
          <a:bodyPr wrap="square" lIns="0" tIns="0" rIns="0" bIns="0" rtlCol="0" anchor="t"/>
          <a:lstStyle/>
          <a:p>
            <a:pPr indent="0" marL="0">
              <a:buNone/>
            </a:pPr>
            <a:r>
              <a:rPr lang="en-US" sz="1450" dirty="0">
                <a:solidFill>
                  <a:srgbClr val="222222"/>
                </a:solidFill>
                <a:latin typeface="Calibri" pitchFamily="34" charset="0"/>
                <a:ea typeface="Calibri" pitchFamily="34" charset="-122"/>
                <a:cs typeface="Calibri" pitchFamily="34" charset="-120"/>
              </a:rPr>
              <a:t>Build toward expected-possession-value approaches that score a possession as it unfolds.</a:t>
            </a:r>
            <a:endParaRPr lang="en-US" sz="1450" dirty="0"/>
          </a:p>
        </p:txBody>
      </p:sp>
      <p:sp>
        <p:nvSpPr>
          <p:cNvPr id="14" name="Shape 12"/>
          <p:cNvSpPr/>
          <p:nvPr/>
        </p:nvSpPr>
        <p:spPr>
          <a:xfrm>
            <a:off x="8065008" y="1783080"/>
            <a:ext cx="3575304" cy="3657600"/>
          </a:xfrm>
          <a:prstGeom prst="rect">
            <a:avLst/>
          </a:prstGeom>
          <a:solidFill>
            <a:srgbClr val="F4F7FB"/>
          </a:solidFill>
          <a:ln w="12700">
            <a:solidFill>
              <a:srgbClr val="DCE6F2"/>
            </a:solidFill>
            <a:prstDash val="solid"/>
          </a:ln>
          <a:effectLst>
            <a:outerShdw sx="100000" sy="100000" kx="0" ky="0" algn="bl" rotWithShape="0" blurRad="76200" dist="25400" dir="8100000">
              <a:srgbClr val="000000">
                <a:alpha val="12000"/>
              </a:srgbClr>
            </a:outerShdw>
          </a:effectLst>
        </p:spPr>
      </p:sp>
      <p:sp>
        <p:nvSpPr>
          <p:cNvPr id="15" name="Shape 13"/>
          <p:cNvSpPr/>
          <p:nvPr/>
        </p:nvSpPr>
        <p:spPr>
          <a:xfrm>
            <a:off x="8339328" y="2057400"/>
            <a:ext cx="777240" cy="777240"/>
          </a:xfrm>
          <a:prstGeom prst="ellipse">
            <a:avLst/>
          </a:prstGeom>
          <a:solidFill>
            <a:srgbClr val="1F3864"/>
          </a:solidFill>
          <a:ln/>
        </p:spPr>
      </p:sp>
      <p:sp>
        <p:nvSpPr>
          <p:cNvPr id="16" name="Text 14"/>
          <p:cNvSpPr/>
          <p:nvPr/>
        </p:nvSpPr>
        <p:spPr>
          <a:xfrm>
            <a:off x="8339328" y="2057400"/>
            <a:ext cx="777240" cy="777240"/>
          </a:xfrm>
          <a:prstGeom prst="rect">
            <a:avLst/>
          </a:prstGeom>
          <a:noFill/>
          <a:ln/>
        </p:spPr>
        <p:txBody>
          <a:bodyPr wrap="square" lIns="0" tIns="0" rIns="0" bIns="0" rtlCol="0" anchor="ctr"/>
          <a:lstStyle/>
          <a:p>
            <a:pPr algn="ctr" indent="0" marL="0">
              <a:buNone/>
            </a:pPr>
            <a:r>
              <a:rPr lang="en-US" sz="2600" b="1" dirty="0">
                <a:solidFill>
                  <a:srgbClr val="FFFFFF"/>
                </a:solidFill>
                <a:latin typeface="Georgia" pitchFamily="34" charset="0"/>
                <a:ea typeface="Georgia" pitchFamily="34" charset="-122"/>
                <a:cs typeface="Georgia" pitchFamily="34" charset="-120"/>
              </a:rPr>
              <a:t>3</a:t>
            </a:r>
            <a:endParaRPr lang="en-US" sz="2600" dirty="0"/>
          </a:p>
        </p:txBody>
      </p:sp>
      <p:sp>
        <p:nvSpPr>
          <p:cNvPr id="17" name="Text 15"/>
          <p:cNvSpPr/>
          <p:nvPr/>
        </p:nvSpPr>
        <p:spPr>
          <a:xfrm>
            <a:off x="8339328" y="3017520"/>
            <a:ext cx="3026664" cy="640080"/>
          </a:xfrm>
          <a:prstGeom prst="rect">
            <a:avLst/>
          </a:prstGeom>
          <a:noFill/>
          <a:ln/>
        </p:spPr>
        <p:txBody>
          <a:bodyPr wrap="square" lIns="0" tIns="0" rIns="0" bIns="0" rtlCol="0" anchor="ctr"/>
          <a:lstStyle/>
          <a:p>
            <a:pPr indent="0" marL="0">
              <a:buNone/>
            </a:pPr>
            <a:r>
              <a:rPr lang="en-US" sz="2000" b="1" dirty="0">
                <a:solidFill>
                  <a:srgbClr val="1F3864"/>
                </a:solidFill>
                <a:latin typeface="Georgia" pitchFamily="34" charset="0"/>
                <a:ea typeface="Georgia" pitchFamily="34" charset="-122"/>
                <a:cs typeface="Georgia" pitchFamily="34" charset="-120"/>
              </a:rPr>
              <a:t>Broader metric</a:t>
            </a:r>
            <a:endParaRPr lang="en-US" sz="2000" dirty="0"/>
          </a:p>
        </p:txBody>
      </p:sp>
      <p:sp>
        <p:nvSpPr>
          <p:cNvPr id="18" name="Text 16"/>
          <p:cNvSpPr/>
          <p:nvPr/>
        </p:nvSpPr>
        <p:spPr>
          <a:xfrm>
            <a:off x="8339328" y="3703320"/>
            <a:ext cx="3026664" cy="1554480"/>
          </a:xfrm>
          <a:prstGeom prst="rect">
            <a:avLst/>
          </a:prstGeom>
          <a:noFill/>
          <a:ln/>
        </p:spPr>
        <p:txBody>
          <a:bodyPr wrap="square" lIns="0" tIns="0" rIns="0" bIns="0" rtlCol="0" anchor="t"/>
          <a:lstStyle/>
          <a:p>
            <a:pPr indent="0" marL="0">
              <a:buNone/>
            </a:pPr>
            <a:r>
              <a:rPr lang="en-US" sz="1450" dirty="0">
                <a:solidFill>
                  <a:srgbClr val="222222"/>
                </a:solidFill>
                <a:latin typeface="Calibri" pitchFamily="34" charset="0"/>
                <a:ea typeface="Calibri" pitchFamily="34" charset="-122"/>
                <a:cs typeface="Calibri" pitchFamily="34" charset="-120"/>
              </a:rPr>
              <a:t>Combine shot quality with the other dimensions of player value — a fuller picture.</a:t>
            </a:r>
            <a:endParaRPr lang="en-US" sz="1450" dirty="0"/>
          </a:p>
        </p:txBody>
      </p:sp>
      <p:sp>
        <p:nvSpPr>
          <p:cNvPr id="19" name="Text 17"/>
          <p:cNvSpPr/>
          <p:nvPr/>
        </p:nvSpPr>
        <p:spPr>
          <a:xfrm>
            <a:off x="548640" y="5623560"/>
            <a:ext cx="11091672" cy="457200"/>
          </a:xfrm>
          <a:prstGeom prst="rect">
            <a:avLst/>
          </a:prstGeom>
          <a:noFill/>
          <a:ln/>
        </p:spPr>
        <p:txBody>
          <a:bodyPr wrap="square" lIns="0" tIns="0" rIns="0" bIns="0" rtlCol="0" anchor="ctr"/>
          <a:lstStyle/>
          <a:p>
            <a:pPr algn="ctr" indent="0" marL="0">
              <a:buNone/>
            </a:pPr>
            <a:r>
              <a:rPr lang="en-US" sz="1600" i="1" dirty="0">
                <a:solidFill>
                  <a:srgbClr val="2E75B6"/>
                </a:solidFill>
                <a:latin typeface="Georgia" pitchFamily="34" charset="0"/>
                <a:ea typeface="Georgia" pitchFamily="34" charset="-122"/>
                <a:cs typeface="Georgia" pitchFamily="34" charset="-120"/>
              </a:rPr>
              <a:t>"What we lacked was not the idea, but the time."</a:t>
            </a:r>
            <a:endParaRPr lang="en-US" sz="1600" dirty="0"/>
          </a:p>
        </p:txBody>
      </p:sp>
      <p:sp>
        <p:nvSpPr>
          <p:cNvPr id="20" name="Text 18"/>
          <p:cNvSpPr/>
          <p:nvPr/>
        </p:nvSpPr>
        <p:spPr>
          <a:xfrm>
            <a:off x="548640" y="6510528"/>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NBA Shot Quality Capstone — DAT 490 (Summer A 2026)</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100" b="1" spc="200" kern="0" dirty="0">
                <a:solidFill>
                  <a:srgbClr val="2E75B6"/>
                </a:solidFill>
                <a:latin typeface="Calibri" pitchFamily="34" charset="0"/>
                <a:ea typeface="Calibri" pitchFamily="34" charset="-122"/>
                <a:cs typeface="Calibri" pitchFamily="34" charset="-120"/>
              </a:rPr>
              <a:t>CONCLUSION  ·  COLE</a:t>
            </a:r>
            <a:endParaRPr lang="en-US" sz="1100" dirty="0"/>
          </a:p>
        </p:txBody>
      </p:sp>
      <p:sp>
        <p:nvSpPr>
          <p:cNvPr id="3" name="Text 1"/>
          <p:cNvSpPr/>
          <p:nvPr/>
        </p:nvSpPr>
        <p:spPr>
          <a:xfrm>
            <a:off x="548640" y="566928"/>
            <a:ext cx="11064240" cy="868680"/>
          </a:xfrm>
          <a:prstGeom prst="rect">
            <a:avLst/>
          </a:prstGeom>
          <a:noFill/>
          <a:ln/>
        </p:spPr>
        <p:txBody>
          <a:bodyPr wrap="square" lIns="0" tIns="0" rIns="0" bIns="0" rtlCol="0" anchor="t"/>
          <a:lstStyle/>
          <a:p>
            <a:pPr indent="0" marL="0">
              <a:buNone/>
            </a:pPr>
            <a:r>
              <a:rPr lang="en-US" sz="2900" b="1" dirty="0">
                <a:solidFill>
                  <a:srgbClr val="1F3864"/>
                </a:solidFill>
                <a:latin typeface="Georgia" pitchFamily="34" charset="0"/>
                <a:ea typeface="Georgia" pitchFamily="34" charset="-122"/>
                <a:cs typeface="Georgia" pitchFamily="34" charset="-120"/>
              </a:rPr>
              <a:t>What we found</a:t>
            </a:r>
            <a:endParaRPr lang="en-US" sz="2900" dirty="0"/>
          </a:p>
        </p:txBody>
      </p:sp>
      <p:sp>
        <p:nvSpPr>
          <p:cNvPr id="4" name="Shape 2"/>
          <p:cNvSpPr/>
          <p:nvPr/>
        </p:nvSpPr>
        <p:spPr>
          <a:xfrm>
            <a:off x="548640" y="1783080"/>
            <a:ext cx="11091672" cy="914400"/>
          </a:xfrm>
          <a:prstGeom prst="rect">
            <a:avLst/>
          </a:prstGeom>
          <a:solidFill>
            <a:srgbClr val="F4F7FB"/>
          </a:solidFill>
          <a:ln w="12700">
            <a:solidFill>
              <a:srgbClr val="DCE6F2"/>
            </a:solidFill>
            <a:prstDash val="solid"/>
          </a:ln>
          <a:effectLst>
            <a:outerShdw sx="100000" sy="100000" kx="0" ky="0" algn="bl" rotWithShape="0" blurRad="76200" dist="25400" dir="8100000">
              <a:srgbClr val="000000">
                <a:alpha val="12000"/>
              </a:srgbClr>
            </a:outerShdw>
          </a:effectLst>
        </p:spPr>
      </p:sp>
      <p:sp>
        <p:nvSpPr>
          <p:cNvPr id="5" name="Shape 3"/>
          <p:cNvSpPr/>
          <p:nvPr/>
        </p:nvSpPr>
        <p:spPr>
          <a:xfrm>
            <a:off x="548640" y="1783080"/>
            <a:ext cx="109728" cy="914400"/>
          </a:xfrm>
          <a:prstGeom prst="rect">
            <a:avLst/>
          </a:prstGeom>
          <a:solidFill>
            <a:srgbClr val="C8102E"/>
          </a:solidFill>
          <a:ln/>
        </p:spPr>
      </p:sp>
      <p:sp>
        <p:nvSpPr>
          <p:cNvPr id="6" name="Text 4"/>
          <p:cNvSpPr/>
          <p:nvPr/>
        </p:nvSpPr>
        <p:spPr>
          <a:xfrm>
            <a:off x="914400" y="1783080"/>
            <a:ext cx="10515600" cy="914400"/>
          </a:xfrm>
          <a:prstGeom prst="rect">
            <a:avLst/>
          </a:prstGeom>
          <a:noFill/>
          <a:ln/>
        </p:spPr>
        <p:txBody>
          <a:bodyPr wrap="square" lIns="0" tIns="0" rIns="0" bIns="0" rtlCol="0" anchor="ctr"/>
          <a:lstStyle/>
          <a:p>
            <a:pPr indent="0" marL="0">
              <a:buNone/>
            </a:pPr>
            <a:r>
              <a:rPr lang="en-US" sz="1700" dirty="0">
                <a:solidFill>
                  <a:srgbClr val="222222"/>
                </a:solidFill>
                <a:latin typeface="Calibri" pitchFamily="34" charset="0"/>
                <a:ea typeface="Calibri" pitchFamily="34" charset="-122"/>
                <a:cs typeface="Calibri" pitchFamily="34" charset="-120"/>
              </a:rPr>
              <a:t>Shot context is genuinely predictive of whether a shot goes in.</a:t>
            </a:r>
            <a:endParaRPr lang="en-US" sz="1700" dirty="0"/>
          </a:p>
        </p:txBody>
      </p:sp>
      <p:sp>
        <p:nvSpPr>
          <p:cNvPr id="7" name="Shape 5"/>
          <p:cNvSpPr/>
          <p:nvPr/>
        </p:nvSpPr>
        <p:spPr>
          <a:xfrm>
            <a:off x="548640" y="2816352"/>
            <a:ext cx="11091672" cy="914400"/>
          </a:xfrm>
          <a:prstGeom prst="rect">
            <a:avLst/>
          </a:prstGeom>
          <a:solidFill>
            <a:srgbClr val="F4F7FB"/>
          </a:solidFill>
          <a:ln w="12700">
            <a:solidFill>
              <a:srgbClr val="DCE6F2"/>
            </a:solidFill>
            <a:prstDash val="solid"/>
          </a:ln>
          <a:effectLst>
            <a:outerShdw sx="100000" sy="100000" kx="0" ky="0" algn="bl" rotWithShape="0" blurRad="76200" dist="25400" dir="8100000">
              <a:srgbClr val="000000">
                <a:alpha val="12000"/>
              </a:srgbClr>
            </a:outerShdw>
          </a:effectLst>
        </p:spPr>
      </p:sp>
      <p:sp>
        <p:nvSpPr>
          <p:cNvPr id="8" name="Shape 6"/>
          <p:cNvSpPr/>
          <p:nvPr/>
        </p:nvSpPr>
        <p:spPr>
          <a:xfrm>
            <a:off x="548640" y="2816352"/>
            <a:ext cx="109728" cy="914400"/>
          </a:xfrm>
          <a:prstGeom prst="rect">
            <a:avLst/>
          </a:prstGeom>
          <a:solidFill>
            <a:srgbClr val="C8102E"/>
          </a:solidFill>
          <a:ln/>
        </p:spPr>
      </p:sp>
      <p:sp>
        <p:nvSpPr>
          <p:cNvPr id="9" name="Text 7"/>
          <p:cNvSpPr/>
          <p:nvPr/>
        </p:nvSpPr>
        <p:spPr>
          <a:xfrm>
            <a:off x="914400" y="2816352"/>
            <a:ext cx="10515600" cy="914400"/>
          </a:xfrm>
          <a:prstGeom prst="rect">
            <a:avLst/>
          </a:prstGeom>
          <a:noFill/>
          <a:ln/>
        </p:spPr>
        <p:txBody>
          <a:bodyPr wrap="square" lIns="0" tIns="0" rIns="0" bIns="0" rtlCol="0" anchor="ctr"/>
          <a:lstStyle/>
          <a:p>
            <a:pPr indent="0" marL="0">
              <a:buNone/>
            </a:pPr>
            <a:r>
              <a:rPr lang="en-US" sz="1700" dirty="0">
                <a:solidFill>
                  <a:srgbClr val="222222"/>
                </a:solidFill>
                <a:latin typeface="Calibri" pitchFamily="34" charset="0"/>
                <a:ea typeface="Calibri" pitchFamily="34" charset="-122"/>
                <a:cs typeface="Calibri" pitchFamily="34" charset="-120"/>
              </a:rPr>
              <a:t>Players who beat the model span distinct, recognizable roles — not one type.</a:t>
            </a:r>
            <a:endParaRPr lang="en-US" sz="1700" dirty="0"/>
          </a:p>
        </p:txBody>
      </p:sp>
      <p:sp>
        <p:nvSpPr>
          <p:cNvPr id="10" name="Shape 8"/>
          <p:cNvSpPr/>
          <p:nvPr/>
        </p:nvSpPr>
        <p:spPr>
          <a:xfrm>
            <a:off x="548640" y="3849624"/>
            <a:ext cx="11091672" cy="914400"/>
          </a:xfrm>
          <a:prstGeom prst="rect">
            <a:avLst/>
          </a:prstGeom>
          <a:solidFill>
            <a:srgbClr val="F4F7FB"/>
          </a:solidFill>
          <a:ln w="12700">
            <a:solidFill>
              <a:srgbClr val="DCE6F2"/>
            </a:solidFill>
            <a:prstDash val="solid"/>
          </a:ln>
          <a:effectLst>
            <a:outerShdw sx="100000" sy="100000" kx="0" ky="0" algn="bl" rotWithShape="0" blurRad="76200" dist="25400" dir="8100000">
              <a:srgbClr val="000000">
                <a:alpha val="12000"/>
              </a:srgbClr>
            </a:outerShdw>
          </a:effectLst>
        </p:spPr>
      </p:sp>
      <p:sp>
        <p:nvSpPr>
          <p:cNvPr id="11" name="Shape 9"/>
          <p:cNvSpPr/>
          <p:nvPr/>
        </p:nvSpPr>
        <p:spPr>
          <a:xfrm>
            <a:off x="548640" y="3849624"/>
            <a:ext cx="109728" cy="914400"/>
          </a:xfrm>
          <a:prstGeom prst="rect">
            <a:avLst/>
          </a:prstGeom>
          <a:solidFill>
            <a:srgbClr val="C8102E"/>
          </a:solidFill>
          <a:ln/>
        </p:spPr>
      </p:sp>
      <p:sp>
        <p:nvSpPr>
          <p:cNvPr id="12" name="Text 10"/>
          <p:cNvSpPr/>
          <p:nvPr/>
        </p:nvSpPr>
        <p:spPr>
          <a:xfrm>
            <a:off x="914400" y="3849624"/>
            <a:ext cx="10515600" cy="914400"/>
          </a:xfrm>
          <a:prstGeom prst="rect">
            <a:avLst/>
          </a:prstGeom>
          <a:noFill/>
          <a:ln/>
        </p:spPr>
        <p:txBody>
          <a:bodyPr wrap="square" lIns="0" tIns="0" rIns="0" bIns="0" rtlCol="0" anchor="ctr"/>
          <a:lstStyle/>
          <a:p>
            <a:pPr indent="0" marL="0">
              <a:buNone/>
            </a:pPr>
            <a:r>
              <a:rPr lang="en-US" sz="1700" dirty="0">
                <a:solidFill>
                  <a:srgbClr val="222222"/>
                </a:solidFill>
                <a:latin typeface="Calibri" pitchFamily="34" charset="0"/>
                <a:ea typeface="Calibri" pitchFamily="34" charset="-122"/>
                <a:cs typeface="Calibri" pitchFamily="34" charset="-120"/>
              </a:rPr>
              <a:t>The league's decade of change was about shot selection, not shooting better everywhere.</a:t>
            </a:r>
            <a:endParaRPr lang="en-US" sz="1700" dirty="0"/>
          </a:p>
        </p:txBody>
      </p:sp>
      <p:sp>
        <p:nvSpPr>
          <p:cNvPr id="13" name="Shape 11"/>
          <p:cNvSpPr/>
          <p:nvPr/>
        </p:nvSpPr>
        <p:spPr>
          <a:xfrm>
            <a:off x="548640" y="4882896"/>
            <a:ext cx="11091672" cy="914400"/>
          </a:xfrm>
          <a:prstGeom prst="rect">
            <a:avLst/>
          </a:prstGeom>
          <a:solidFill>
            <a:srgbClr val="F4F7FB"/>
          </a:solidFill>
          <a:ln w="12700">
            <a:solidFill>
              <a:srgbClr val="DCE6F2"/>
            </a:solidFill>
            <a:prstDash val="solid"/>
          </a:ln>
          <a:effectLst>
            <a:outerShdw sx="100000" sy="100000" kx="0" ky="0" algn="bl" rotWithShape="0" blurRad="76200" dist="25400" dir="8100000">
              <a:srgbClr val="000000">
                <a:alpha val="12000"/>
              </a:srgbClr>
            </a:outerShdw>
          </a:effectLst>
        </p:spPr>
      </p:sp>
      <p:sp>
        <p:nvSpPr>
          <p:cNvPr id="14" name="Shape 12"/>
          <p:cNvSpPr/>
          <p:nvPr/>
        </p:nvSpPr>
        <p:spPr>
          <a:xfrm>
            <a:off x="548640" y="4882896"/>
            <a:ext cx="109728" cy="914400"/>
          </a:xfrm>
          <a:prstGeom prst="rect">
            <a:avLst/>
          </a:prstGeom>
          <a:solidFill>
            <a:srgbClr val="C8102E"/>
          </a:solidFill>
          <a:ln/>
        </p:spPr>
      </p:sp>
      <p:sp>
        <p:nvSpPr>
          <p:cNvPr id="15" name="Text 13"/>
          <p:cNvSpPr/>
          <p:nvPr/>
        </p:nvSpPr>
        <p:spPr>
          <a:xfrm>
            <a:off x="914400" y="4882896"/>
            <a:ext cx="10515600" cy="914400"/>
          </a:xfrm>
          <a:prstGeom prst="rect">
            <a:avLst/>
          </a:prstGeom>
          <a:noFill/>
          <a:ln/>
        </p:spPr>
        <p:txBody>
          <a:bodyPr wrap="square" lIns="0" tIns="0" rIns="0" bIns="0" rtlCol="0" anchor="ctr"/>
          <a:lstStyle/>
          <a:p>
            <a:pPr indent="0" marL="0">
              <a:buNone/>
            </a:pPr>
            <a:r>
              <a:rPr lang="en-US" sz="1700" dirty="0">
                <a:solidFill>
                  <a:srgbClr val="222222"/>
                </a:solidFill>
                <a:latin typeface="Calibri" pitchFamily="34" charset="0"/>
                <a:ea typeface="Calibri" pitchFamily="34" charset="-122"/>
                <a:cs typeface="Calibri" pitchFamily="34" charset="-120"/>
              </a:rPr>
              <a:t>A shot-quality view reorders players in a way traditional metrics miss.</a:t>
            </a:r>
            <a:endParaRPr lang="en-US" sz="1700" dirty="0"/>
          </a:p>
        </p:txBody>
      </p:sp>
      <p:sp>
        <p:nvSpPr>
          <p:cNvPr id="16" name="Text 14"/>
          <p:cNvSpPr/>
          <p:nvPr/>
        </p:nvSpPr>
        <p:spPr>
          <a:xfrm>
            <a:off x="548640" y="6510528"/>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NBA Shot Quality Capstone — DAT 490 (Summer A 2026)</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F3864"/>
        </a:solidFill>
      </p:bgPr>
    </p:bg>
    <p:spTree>
      <p:nvGrpSpPr>
        <p:cNvPr id="1" name=""/>
        <p:cNvGrpSpPr/>
        <p:nvPr/>
      </p:nvGrpSpPr>
      <p:grpSpPr>
        <a:xfrm>
          <a:off x="0" y="0"/>
          <a:ext cx="0" cy="0"/>
          <a:chOff x="0" y="0"/>
          <a:chExt cx="0" cy="0"/>
        </a:xfrm>
      </p:grpSpPr>
      <p:pic>
        <p:nvPicPr>
          <p:cNvPr id="2" name="Image 0" descr="nba_logo.png">    </p:cNvPr>
          <p:cNvPicPr>
            <a:picLocks noChangeAspect="1"/>
          </p:cNvPicPr>
          <p:nvPr/>
        </p:nvPicPr>
        <p:blipFill>
          <a:blip r:embed="rId1"/>
          <a:stretch>
            <a:fillRect/>
          </a:stretch>
        </p:blipFill>
        <p:spPr>
          <a:xfrm>
            <a:off x="5632704" y="822960"/>
            <a:ext cx="914400" cy="1298448"/>
          </a:xfrm>
          <a:prstGeom prst="rect">
            <a:avLst/>
          </a:prstGeom>
        </p:spPr>
      </p:pic>
      <p:sp>
        <p:nvSpPr>
          <p:cNvPr id="3" name="Text 0"/>
          <p:cNvSpPr/>
          <p:nvPr/>
        </p:nvSpPr>
        <p:spPr>
          <a:xfrm>
            <a:off x="457200" y="2377440"/>
            <a:ext cx="11274552" cy="914400"/>
          </a:xfrm>
          <a:prstGeom prst="rect">
            <a:avLst/>
          </a:prstGeom>
          <a:noFill/>
          <a:ln/>
        </p:spPr>
        <p:txBody>
          <a:bodyPr wrap="square" lIns="0" tIns="0" rIns="0" bIns="0" rtlCol="0" anchor="ctr"/>
          <a:lstStyle/>
          <a:p>
            <a:pPr algn="ctr" indent="0" marL="0">
              <a:buNone/>
            </a:pPr>
            <a:r>
              <a:rPr lang="en-US" sz="4600" b="1" dirty="0">
                <a:solidFill>
                  <a:srgbClr val="FFFFFF"/>
                </a:solidFill>
                <a:latin typeface="Georgia" pitchFamily="34" charset="0"/>
                <a:ea typeface="Georgia" pitchFamily="34" charset="-122"/>
                <a:cs typeface="Georgia" pitchFamily="34" charset="-120"/>
              </a:rPr>
              <a:t>Thank you</a:t>
            </a:r>
            <a:endParaRPr lang="en-US" sz="4600" dirty="0"/>
          </a:p>
        </p:txBody>
      </p:sp>
      <p:sp>
        <p:nvSpPr>
          <p:cNvPr id="4" name="Text 1"/>
          <p:cNvSpPr/>
          <p:nvPr/>
        </p:nvSpPr>
        <p:spPr>
          <a:xfrm>
            <a:off x="457200" y="3383280"/>
            <a:ext cx="11274552" cy="457200"/>
          </a:xfrm>
          <a:prstGeom prst="rect">
            <a:avLst/>
          </a:prstGeom>
          <a:noFill/>
          <a:ln/>
        </p:spPr>
        <p:txBody>
          <a:bodyPr wrap="square" lIns="0" tIns="0" rIns="0" bIns="0" rtlCol="0" anchor="ctr"/>
          <a:lstStyle/>
          <a:p>
            <a:pPr algn="ctr" indent="0" marL="0">
              <a:buNone/>
            </a:pPr>
            <a:r>
              <a:rPr lang="en-US" sz="1800" i="1" dirty="0">
                <a:solidFill>
                  <a:srgbClr val="CADCFC"/>
                </a:solidFill>
                <a:latin typeface="Calibri" pitchFamily="34" charset="0"/>
                <a:ea typeface="Calibri" pitchFamily="34" charset="-122"/>
                <a:cs typeface="Calibri" pitchFamily="34" charset="-120"/>
              </a:rPr>
              <a:t>Questions welcome</a:t>
            </a:r>
            <a:endParaRPr lang="en-US" sz="1800" dirty="0"/>
          </a:p>
        </p:txBody>
      </p:sp>
      <p:sp>
        <p:nvSpPr>
          <p:cNvPr id="5" name="Text 2"/>
          <p:cNvSpPr/>
          <p:nvPr/>
        </p:nvSpPr>
        <p:spPr>
          <a:xfrm>
            <a:off x="457200" y="4297680"/>
            <a:ext cx="11274552" cy="457200"/>
          </a:xfrm>
          <a:prstGeom prst="rect">
            <a:avLst/>
          </a:prstGeom>
          <a:noFill/>
          <a:ln/>
        </p:spPr>
        <p:txBody>
          <a:bodyPr wrap="square" lIns="0" tIns="0" rIns="0" bIns="0" rtlCol="0" anchor="ctr"/>
          <a:lstStyle/>
          <a:p>
            <a:pPr algn="ctr" indent="0" marL="0">
              <a:buNone/>
            </a:pPr>
            <a:r>
              <a:rPr lang="en-US" sz="1500" dirty="0">
                <a:solidFill>
                  <a:srgbClr val="FFFFFF"/>
                </a:solidFill>
                <a:latin typeface="Calibri" pitchFamily="34" charset="0"/>
                <a:ea typeface="Calibri" pitchFamily="34" charset="-122"/>
                <a:cs typeface="Calibri" pitchFamily="34" charset="-120"/>
              </a:rPr>
              <a:t>Cole Campbell  ·  Marc Rajesh  ·  Calder Wyllie  ·  Germain Meza</a:t>
            </a:r>
            <a:endParaRPr lang="en-US" sz="1500" dirty="0"/>
          </a:p>
        </p:txBody>
      </p:sp>
      <p:sp>
        <p:nvSpPr>
          <p:cNvPr id="6" name="Text 3"/>
          <p:cNvSpPr/>
          <p:nvPr/>
        </p:nvSpPr>
        <p:spPr>
          <a:xfrm>
            <a:off x="457200" y="4846320"/>
            <a:ext cx="11274552" cy="365760"/>
          </a:xfrm>
          <a:prstGeom prst="rect">
            <a:avLst/>
          </a:prstGeom>
          <a:noFill/>
          <a:ln/>
        </p:spPr>
        <p:txBody>
          <a:bodyPr wrap="square" lIns="0" tIns="0" rIns="0" bIns="0" rtlCol="0" anchor="ctr"/>
          <a:lstStyle/>
          <a:p>
            <a:pPr algn="ctr" indent="0" marL="0">
              <a:buNone/>
            </a:pPr>
            <a:r>
              <a:rPr lang="en-US" sz="1200" dirty="0">
                <a:solidFill>
                  <a:srgbClr val="6B7280"/>
                </a:solidFill>
                <a:latin typeface="Calibri" pitchFamily="34" charset="0"/>
                <a:ea typeface="Calibri" pitchFamily="34" charset="-122"/>
                <a:cs typeface="Calibri" pitchFamily="34" charset="-120"/>
              </a:rPr>
              <a:t>NBA Shot Quality Capstone  ·  DAT 490 — Summer A 2026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NBA Shot Quality Capstone</dc:title>
  <dc:subject>PptxGenJS Presentation</dc:subject>
  <dc:creator>Cole Campbell</dc:creator>
  <cp:lastModifiedBy>Cole Campbell</cp:lastModifiedBy>
  <cp:revision>1</cp:revision>
  <dcterms:created xsi:type="dcterms:W3CDTF">2026-06-17T21:34:15Z</dcterms:created>
  <dcterms:modified xsi:type="dcterms:W3CDTF">2026-06-17T21:34:15Z</dcterms:modified>
</cp:coreProperties>
</file>